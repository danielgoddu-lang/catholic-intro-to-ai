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72" r:id="rId2"/>
  </p:sldMasterIdLst>
  <p:notesMasterIdLst>
    <p:notesMasterId r:id="rId17"/>
  </p:notesMasterIdLst>
  <p:handoutMasterIdLst>
    <p:handoutMasterId r:id="rId18"/>
  </p:handoutMasterIdLst>
  <p:sldIdLst>
    <p:sldId id="256" r:id="rId3"/>
    <p:sldId id="708" r:id="rId4"/>
    <p:sldId id="715" r:id="rId5"/>
    <p:sldId id="730" r:id="rId6"/>
    <p:sldId id="760" r:id="rId7"/>
    <p:sldId id="761" r:id="rId8"/>
    <p:sldId id="762" r:id="rId9"/>
    <p:sldId id="758" r:id="rId10"/>
    <p:sldId id="731" r:id="rId11"/>
    <p:sldId id="753" r:id="rId12"/>
    <p:sldId id="607" r:id="rId13"/>
    <p:sldId id="397" r:id="rId14"/>
    <p:sldId id="710" r:id="rId15"/>
    <p:sldId id="71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97" autoAdjust="0"/>
    <p:restoredTop sz="90392" autoAdjust="0"/>
  </p:normalViewPr>
  <p:slideViewPr>
    <p:cSldViewPr>
      <p:cViewPr varScale="1">
        <p:scale>
          <a:sx n="100" d="100"/>
          <a:sy n="100" d="100"/>
        </p:scale>
        <p:origin x="1254" y="84"/>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AI</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2B8-42B3-8F80-468F5008CF0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2B8-42B3-8F80-468F5008CF0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2B8-42B3-8F80-468F5008CF0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2B8-42B3-8F80-468F5008CF07}"/>
              </c:ext>
            </c:extLst>
          </c:dPt>
          <c:cat>
            <c:strRef>
              <c:f>Sheet1!$A$2:$A$5</c:f>
              <c:strCache>
                <c:ptCount val="4"/>
                <c:pt idx="0">
                  <c:v>Predictive</c:v>
                </c:pt>
                <c:pt idx="1">
                  <c:v>Ranking</c:v>
                </c:pt>
                <c:pt idx="2">
                  <c:v>Vision</c:v>
                </c:pt>
                <c:pt idx="3">
                  <c:v>Generative</c:v>
                </c:pt>
              </c:strCache>
            </c:strRef>
          </c:cat>
          <c:val>
            <c:numRef>
              <c:f>Sheet1!$B$2:$B$5</c:f>
              <c:numCache>
                <c:formatCode>General</c:formatCode>
                <c:ptCount val="4"/>
                <c:pt idx="0">
                  <c:v>50</c:v>
                </c:pt>
                <c:pt idx="1">
                  <c:v>20</c:v>
                </c:pt>
                <c:pt idx="2">
                  <c:v>15</c:v>
                </c:pt>
                <c:pt idx="3">
                  <c:v>10</c:v>
                </c:pt>
              </c:numCache>
            </c:numRef>
          </c:val>
          <c:extLst>
            <c:ext xmlns:c16="http://schemas.microsoft.com/office/drawing/2014/chart" uri="{C3380CC4-5D6E-409C-BE32-E72D297353CC}">
              <c16:uniqueId val="{00000000-CF45-49BB-8C84-403B0DBE8907}"/>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ACA714-536E-4746-87BE-E433361DBBEB}" type="doc">
      <dgm:prSet loTypeId="urn:microsoft.com/office/officeart/2005/8/layout/vList2" loCatId="list" qsTypeId="urn:microsoft.com/office/officeart/2005/8/quickstyle/3d3" qsCatId="3D" csTypeId="urn:microsoft.com/office/officeart/2005/8/colors/accent1_2" csCatId="accent1" phldr="1"/>
      <dgm:spPr/>
      <dgm:t>
        <a:bodyPr/>
        <a:lstStyle/>
        <a:p>
          <a:endParaRPr lang="en-US"/>
        </a:p>
      </dgm:t>
    </dgm:pt>
    <dgm:pt modelId="{C91A4BB9-5CEA-48AF-A17D-C32E05AD848D}">
      <dgm:prSet/>
      <dgm:spPr/>
      <dgm:t>
        <a:bodyPr/>
        <a:lstStyle/>
        <a:p>
          <a:r>
            <a:rPr lang="en-US" dirty="0"/>
            <a:t>St. Michael the Archangel, </a:t>
          </a:r>
          <a:br>
            <a:rPr lang="en-US" dirty="0"/>
          </a:br>
          <a:r>
            <a:rPr lang="en-US" dirty="0"/>
            <a:t>defend us in battle. </a:t>
          </a:r>
          <a:br>
            <a:rPr lang="en-US" dirty="0"/>
          </a:br>
          <a:r>
            <a:rPr lang="en-US" dirty="0"/>
            <a:t>Be our protection against the wickedness and snares of the Devil. </a:t>
          </a:r>
          <a:br>
            <a:rPr lang="en-US" dirty="0"/>
          </a:br>
          <a:r>
            <a:rPr lang="en-US" dirty="0"/>
            <a:t>May God rebuke him, we humbly pray.</a:t>
          </a:r>
          <a:br>
            <a:rPr lang="en-US" dirty="0"/>
          </a:br>
          <a:r>
            <a:rPr lang="en-US" dirty="0"/>
            <a:t>And do thou, O Prince of the heavenly hosts, </a:t>
          </a:r>
          <a:br>
            <a:rPr lang="en-US" dirty="0"/>
          </a:br>
          <a:r>
            <a:rPr lang="en-US" dirty="0"/>
            <a:t>by the power of God, </a:t>
          </a:r>
          <a:br>
            <a:rPr lang="en-US" dirty="0"/>
          </a:br>
          <a:r>
            <a:rPr lang="en-US" dirty="0"/>
            <a:t>cast into hell Satan, and all the evil spirits, </a:t>
          </a:r>
          <a:br>
            <a:rPr lang="en-US" dirty="0"/>
          </a:br>
          <a:r>
            <a:rPr lang="en-US" dirty="0"/>
            <a:t>who prowl about the world </a:t>
          </a:r>
          <a:br>
            <a:rPr lang="en-US" dirty="0"/>
          </a:br>
          <a:r>
            <a:rPr lang="en-US" dirty="0"/>
            <a:t>seeking the ruin of souls. Amen.</a:t>
          </a:r>
        </a:p>
      </dgm:t>
    </dgm:pt>
    <dgm:pt modelId="{DCE8C8DF-A426-4B45-8E8E-DF91CABC50DF}" type="parTrans" cxnId="{633A9793-D4D1-4646-89DC-CF4C57719116}">
      <dgm:prSet/>
      <dgm:spPr/>
      <dgm:t>
        <a:bodyPr/>
        <a:lstStyle/>
        <a:p>
          <a:endParaRPr lang="en-US"/>
        </a:p>
      </dgm:t>
    </dgm:pt>
    <dgm:pt modelId="{E7D2FBD2-EE11-4ABF-BC6A-5C34D90322EB}" type="sibTrans" cxnId="{633A9793-D4D1-4646-89DC-CF4C57719116}">
      <dgm:prSet/>
      <dgm:spPr/>
      <dgm:t>
        <a:bodyPr/>
        <a:lstStyle/>
        <a:p>
          <a:endParaRPr lang="en-US"/>
        </a:p>
      </dgm:t>
    </dgm:pt>
    <dgm:pt modelId="{C76AD353-2A12-4DC9-9594-29C8D8501785}" type="pres">
      <dgm:prSet presAssocID="{1EACA714-536E-4746-87BE-E433361DBBEB}" presName="linear" presStyleCnt="0">
        <dgm:presLayoutVars>
          <dgm:animLvl val="lvl"/>
          <dgm:resizeHandles val="exact"/>
        </dgm:presLayoutVars>
      </dgm:prSet>
      <dgm:spPr/>
    </dgm:pt>
    <dgm:pt modelId="{4F88ADB4-04BB-41C5-A825-234AB106EDF8}" type="pres">
      <dgm:prSet presAssocID="{C91A4BB9-5CEA-48AF-A17D-C32E05AD848D}" presName="parentText" presStyleLbl="node1" presStyleIdx="0" presStyleCnt="1">
        <dgm:presLayoutVars>
          <dgm:chMax val="0"/>
          <dgm:bulletEnabled val="1"/>
        </dgm:presLayoutVars>
      </dgm:prSet>
      <dgm:spPr/>
    </dgm:pt>
  </dgm:ptLst>
  <dgm:cxnLst>
    <dgm:cxn modelId="{4267750D-C31D-49D3-B893-6823390389F4}" type="presOf" srcId="{C91A4BB9-5CEA-48AF-A17D-C32E05AD848D}" destId="{4F88ADB4-04BB-41C5-A825-234AB106EDF8}" srcOrd="0" destOrd="0" presId="urn:microsoft.com/office/officeart/2005/8/layout/vList2"/>
    <dgm:cxn modelId="{3C52F25C-7DC7-487A-8E38-7C3C8A518DE6}" type="presOf" srcId="{1EACA714-536E-4746-87BE-E433361DBBEB}" destId="{C76AD353-2A12-4DC9-9594-29C8D8501785}" srcOrd="0" destOrd="0" presId="urn:microsoft.com/office/officeart/2005/8/layout/vList2"/>
    <dgm:cxn modelId="{633A9793-D4D1-4646-89DC-CF4C57719116}" srcId="{1EACA714-536E-4746-87BE-E433361DBBEB}" destId="{C91A4BB9-5CEA-48AF-A17D-C32E05AD848D}" srcOrd="0" destOrd="0" parTransId="{DCE8C8DF-A426-4B45-8E8E-DF91CABC50DF}" sibTransId="{E7D2FBD2-EE11-4ABF-BC6A-5C34D90322EB}"/>
    <dgm:cxn modelId="{453010A8-55AF-447E-A8A8-DD7B64773EC7}" type="presParOf" srcId="{C76AD353-2A12-4DC9-9594-29C8D8501785}" destId="{4F88ADB4-04BB-41C5-A825-234AB106EDF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88ADB4-04BB-41C5-A825-234AB106EDF8}">
      <dsp:nvSpPr>
        <dsp:cNvPr id="0" name=""/>
        <dsp:cNvSpPr/>
      </dsp:nvSpPr>
      <dsp:spPr>
        <a:xfrm>
          <a:off x="0" y="21892"/>
          <a:ext cx="6771640" cy="3980340"/>
        </a:xfrm>
        <a:prstGeom prst="roundRect">
          <a:avLst/>
        </a:prstGeom>
        <a:solidFill>
          <a:schemeClr val="accent1">
            <a:hueOff val="0"/>
            <a:satOff val="0"/>
            <a:lumOff val="0"/>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St. Michael the Archangel, </a:t>
          </a:r>
          <a:br>
            <a:rPr lang="en-US" sz="2700" kern="1200" dirty="0"/>
          </a:br>
          <a:r>
            <a:rPr lang="en-US" sz="2700" kern="1200" dirty="0"/>
            <a:t>defend us in battle. </a:t>
          </a:r>
          <a:br>
            <a:rPr lang="en-US" sz="2700" kern="1200" dirty="0"/>
          </a:br>
          <a:r>
            <a:rPr lang="en-US" sz="2700" kern="1200" dirty="0"/>
            <a:t>Be our protection against the wickedness and snares of the Devil. </a:t>
          </a:r>
          <a:br>
            <a:rPr lang="en-US" sz="2700" kern="1200" dirty="0"/>
          </a:br>
          <a:r>
            <a:rPr lang="en-US" sz="2700" kern="1200" dirty="0"/>
            <a:t>May God rebuke him, we humbly pray.</a:t>
          </a:r>
          <a:br>
            <a:rPr lang="en-US" sz="2700" kern="1200" dirty="0"/>
          </a:br>
          <a:r>
            <a:rPr lang="en-US" sz="2700" kern="1200" dirty="0"/>
            <a:t>And do thou, O Prince of the heavenly hosts, </a:t>
          </a:r>
          <a:br>
            <a:rPr lang="en-US" sz="2700" kern="1200" dirty="0"/>
          </a:br>
          <a:r>
            <a:rPr lang="en-US" sz="2700" kern="1200" dirty="0"/>
            <a:t>by the power of God, </a:t>
          </a:r>
          <a:br>
            <a:rPr lang="en-US" sz="2700" kern="1200" dirty="0"/>
          </a:br>
          <a:r>
            <a:rPr lang="en-US" sz="2700" kern="1200" dirty="0"/>
            <a:t>cast into hell Satan, and all the evil spirits, </a:t>
          </a:r>
          <a:br>
            <a:rPr lang="en-US" sz="2700" kern="1200" dirty="0"/>
          </a:br>
          <a:r>
            <a:rPr lang="en-US" sz="2700" kern="1200" dirty="0"/>
            <a:t>who prowl about the world </a:t>
          </a:r>
          <a:br>
            <a:rPr lang="en-US" sz="2700" kern="1200" dirty="0"/>
          </a:br>
          <a:r>
            <a:rPr lang="en-US" sz="2700" kern="1200" dirty="0"/>
            <a:t>seeking the ruin of souls. Amen.</a:t>
          </a:r>
        </a:p>
      </dsp:txBody>
      <dsp:txXfrm>
        <a:off x="194304" y="216196"/>
        <a:ext cx="6383032" cy="35917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3/9/2026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3/9/2026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E2CF44-2B13-41B4-A334-1CDF534EEBBF}" type="slidenum">
              <a:rPr lang="en-US" smtClean="0"/>
              <a:t>1</a:t>
            </a:fld>
            <a:endParaRPr lang="en-US"/>
          </a:p>
        </p:txBody>
      </p:sp>
    </p:spTree>
    <p:extLst>
      <p:ext uri="{BB962C8B-B14F-4D97-AF65-F5344CB8AC3E}">
        <p14:creationId xmlns:p14="http://schemas.microsoft.com/office/powerpoint/2010/main" val="2385099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pre-trained transformer</a:t>
            </a:r>
          </a:p>
        </p:txBody>
      </p:sp>
      <p:sp>
        <p:nvSpPr>
          <p:cNvPr id="4" name="Slide Number Placeholder 3"/>
          <p:cNvSpPr>
            <a:spLocks noGrp="1"/>
          </p:cNvSpPr>
          <p:nvPr>
            <p:ph type="sldNum" sz="quarter" idx="5"/>
          </p:nvPr>
        </p:nvSpPr>
        <p:spPr/>
        <p:txBody>
          <a:bodyPr/>
          <a:lstStyle/>
          <a:p>
            <a:fld id="{5EE2CF44-2B13-41B4-A334-1CDF534EEBBF}" type="slidenum">
              <a:rPr lang="en-US" smtClean="0"/>
              <a:t>9</a:t>
            </a:fld>
            <a:endParaRPr lang="en-US"/>
          </a:p>
        </p:txBody>
      </p:sp>
    </p:spTree>
    <p:extLst>
      <p:ext uri="{BB962C8B-B14F-4D97-AF65-F5344CB8AC3E}">
        <p14:creationId xmlns:p14="http://schemas.microsoft.com/office/powerpoint/2010/main" val="3998917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BA2217F-BE4B-422D-88A0-F3333EFA9FF0}" type="datetime1">
              <a:rPr lang="en-US" smtClean="0"/>
              <a:t>3/9/2026</a:t>
            </a:fld>
            <a:endParaRPr lang="en-US" dirty="0"/>
          </a:p>
        </p:txBody>
      </p:sp>
      <p:sp>
        <p:nvSpPr>
          <p:cNvPr id="5" name="Footer Placeholder 4"/>
          <p:cNvSpPr>
            <a:spLocks noGrp="1"/>
          </p:cNvSpPr>
          <p:nvPr>
            <p:ph type="ftr" sz="quarter" idx="11"/>
          </p:nvPr>
        </p:nvSpPr>
        <p:spPr/>
        <p:txBody>
          <a:bodyPr/>
          <a:lstStyle/>
          <a:p>
            <a:r>
              <a:rPr lang="en-US"/>
              <a:t>A CATHOLIC INTRODUCTION TO ARTIFICIAL INTELLIGENCE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BA23E17B-2FD4-A481-29F1-8CF2D804DD61}"/>
              </a:ext>
            </a:extLst>
          </p:cNvPr>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B68993E-F5C2-0FD3-88E1-F3CE5EC2B93C}"/>
              </a:ext>
            </a:extLst>
          </p:cNvPr>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195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indent="-274320">
              <a:buFont typeface="Wingdings" panose="05000000000000000000" pitchFamily="2" charset="2"/>
              <a:buChar cha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8A6FB8C-85A9-49A2-928D-A0F5E1221B7E}" type="datetime1">
              <a:rPr lang="en-US" smtClean="0"/>
              <a:t>3/9/2026</a:t>
            </a:fld>
            <a:endParaRPr lang="en-US"/>
          </a:p>
        </p:txBody>
      </p:sp>
      <p:sp>
        <p:nvSpPr>
          <p:cNvPr id="5" name="Footer Placeholder 4"/>
          <p:cNvSpPr>
            <a:spLocks noGrp="1"/>
          </p:cNvSpPr>
          <p:nvPr>
            <p:ph type="ftr" sz="quarter" idx="11"/>
          </p:nvPr>
        </p:nvSpPr>
        <p:spPr/>
        <p:txBody>
          <a:bodyPr/>
          <a:lstStyle/>
          <a:p>
            <a:r>
              <a:rPr lang="en-US"/>
              <a:t>A CATHOLIC INTRODUCTION TO ARTIFICIAL INTELLIGENCE</a:t>
            </a:r>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247317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A3C757-3945-4C01-A387-3D6ABEA6B886}" type="datetime1">
              <a:rPr lang="en-US" smtClean="0"/>
              <a:t>3/9/2026</a:t>
            </a:fld>
            <a:endParaRPr lang="en-US" dirty="0"/>
          </a:p>
        </p:txBody>
      </p:sp>
      <p:sp>
        <p:nvSpPr>
          <p:cNvPr id="5" name="Footer Placeholder 4"/>
          <p:cNvSpPr>
            <a:spLocks noGrp="1"/>
          </p:cNvSpPr>
          <p:nvPr>
            <p:ph type="ftr" sz="quarter" idx="11"/>
          </p:nvPr>
        </p:nvSpPr>
        <p:spPr/>
        <p:txBody>
          <a:bodyPr/>
          <a:lstStyle/>
          <a:p>
            <a:r>
              <a:rPr lang="en-US"/>
              <a:t>A CATHOLIC INTRODUCTION TO ARTIFICIAL INTELLIGENCE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22431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1CE33D-DDEC-46AB-BEA0-84E89F53469A}" type="datetime1">
              <a:rPr lang="en-US" smtClean="0"/>
              <a:t>3/9/2026</a:t>
            </a:fld>
            <a:endParaRPr lang="en-US"/>
          </a:p>
        </p:txBody>
      </p:sp>
      <p:sp>
        <p:nvSpPr>
          <p:cNvPr id="6" name="Footer Placeholder 5"/>
          <p:cNvSpPr>
            <a:spLocks noGrp="1"/>
          </p:cNvSpPr>
          <p:nvPr>
            <p:ph type="ftr" sz="quarter" idx="11"/>
          </p:nvPr>
        </p:nvSpPr>
        <p:spPr/>
        <p:txBody>
          <a:bodyPr/>
          <a:lstStyle/>
          <a:p>
            <a:r>
              <a:rPr lang="en-US"/>
              <a:t>A CATHOLIC INTRODUCTION TO ARTIFICIAL INTELLIGENCE</a:t>
            </a:r>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45370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3D8F67-C812-480E-8EA9-66078F8F6ED2}" type="datetime1">
              <a:rPr lang="en-US" smtClean="0"/>
              <a:t>3/9/2026</a:t>
            </a:fld>
            <a:endParaRPr lang="en-US"/>
          </a:p>
        </p:txBody>
      </p:sp>
      <p:sp>
        <p:nvSpPr>
          <p:cNvPr id="8" name="Footer Placeholder 7"/>
          <p:cNvSpPr>
            <a:spLocks noGrp="1"/>
          </p:cNvSpPr>
          <p:nvPr>
            <p:ph type="ftr" sz="quarter" idx="11"/>
          </p:nvPr>
        </p:nvSpPr>
        <p:spPr/>
        <p:txBody>
          <a:bodyPr/>
          <a:lstStyle/>
          <a:p>
            <a:r>
              <a:rPr lang="en-US"/>
              <a:t>A CATHOLIC INTRODUCTION TO ARTIFICIAL INTELLIGENCE</a:t>
            </a:r>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111640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499464-B0A7-43A1-B476-C9FD5432459E}" type="datetime1">
              <a:rPr lang="en-US" smtClean="0"/>
              <a:t>3/9/2026</a:t>
            </a:fld>
            <a:endParaRPr lang="en-US"/>
          </a:p>
        </p:txBody>
      </p:sp>
      <p:sp>
        <p:nvSpPr>
          <p:cNvPr id="4" name="Footer Placeholder 3"/>
          <p:cNvSpPr>
            <a:spLocks noGrp="1"/>
          </p:cNvSpPr>
          <p:nvPr>
            <p:ph type="ftr" sz="quarter" idx="11"/>
          </p:nvPr>
        </p:nvSpPr>
        <p:spPr/>
        <p:txBody>
          <a:bodyPr/>
          <a:lstStyle/>
          <a:p>
            <a:r>
              <a:rPr lang="en-US"/>
              <a:t>A CATHOLIC INTRODUCTION TO ARTIFICIAL INTELLIGENCE</a:t>
            </a:r>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435380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BF094-ADCB-4A11-96C0-987A57E42AD4}" type="datetime1">
              <a:rPr lang="en-US" smtClean="0"/>
              <a:t>3/9/2026</a:t>
            </a:fld>
            <a:endParaRPr lang="en-US"/>
          </a:p>
        </p:txBody>
      </p:sp>
      <p:sp>
        <p:nvSpPr>
          <p:cNvPr id="3" name="Footer Placeholder 2"/>
          <p:cNvSpPr>
            <a:spLocks noGrp="1"/>
          </p:cNvSpPr>
          <p:nvPr>
            <p:ph type="ftr" sz="quarter" idx="11"/>
          </p:nvPr>
        </p:nvSpPr>
        <p:spPr/>
        <p:txBody>
          <a:bodyPr/>
          <a:lstStyle/>
          <a:p>
            <a:r>
              <a:rPr lang="en-US"/>
              <a:t>A CATHOLIC INTRODUCTION TO ARTIFICIAL INTELLIGENCE</a:t>
            </a:r>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4165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6E7C4D-3C95-47E5-B746-4A52E184A102}" type="datetime1">
              <a:rPr lang="en-US" smtClean="0"/>
              <a:t>3/9/2026</a:t>
            </a:fld>
            <a:endParaRPr lang="en-US"/>
          </a:p>
        </p:txBody>
      </p:sp>
      <p:sp>
        <p:nvSpPr>
          <p:cNvPr id="6" name="Footer Placeholder 5"/>
          <p:cNvSpPr>
            <a:spLocks noGrp="1"/>
          </p:cNvSpPr>
          <p:nvPr>
            <p:ph type="ftr" sz="quarter" idx="11"/>
          </p:nvPr>
        </p:nvSpPr>
        <p:spPr/>
        <p:txBody>
          <a:bodyPr/>
          <a:lstStyle/>
          <a:p>
            <a:r>
              <a:rPr lang="en-US"/>
              <a:t>A CATHOLIC INTRODUCTION TO ARTIFICIAL INTELLIGENCE</a:t>
            </a:r>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31934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FA61AC1-A611-4AAA-ACBC-68DB19972495}" type="datetime1">
              <a:rPr lang="en-US" smtClean="0"/>
              <a:t>3/9/2026</a:t>
            </a:fld>
            <a:endParaRPr lang="en-US"/>
          </a:p>
        </p:txBody>
      </p:sp>
      <p:sp>
        <p:nvSpPr>
          <p:cNvPr id="6" name="Footer Placeholder 5"/>
          <p:cNvSpPr>
            <a:spLocks noGrp="1"/>
          </p:cNvSpPr>
          <p:nvPr>
            <p:ph type="ftr" sz="quarter" idx="11"/>
          </p:nvPr>
        </p:nvSpPr>
        <p:spPr/>
        <p:txBody>
          <a:bodyPr/>
          <a:lstStyle/>
          <a:p>
            <a:r>
              <a:rPr lang="en-US"/>
              <a:t>A CATHOLIC INTRODUCTION TO ARTIFICIAL INTELLIGENCE</a:t>
            </a:r>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4A10DE5-43C3-E43E-A721-A27C608399F9}"/>
              </a:ext>
            </a:extLst>
          </p:cNvPr>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Tree>
    <p:extLst>
      <p:ext uri="{BB962C8B-B14F-4D97-AF65-F5344CB8AC3E}">
        <p14:creationId xmlns:p14="http://schemas.microsoft.com/office/powerpoint/2010/main" val="4257779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60000B-CF62-414D-99F1-FCEAFFFA8114}" type="datetime1">
              <a:rPr lang="en-US" smtClean="0"/>
              <a:t>3/9/2026</a:t>
            </a:fld>
            <a:endParaRPr lang="en-US"/>
          </a:p>
        </p:txBody>
      </p:sp>
      <p:sp>
        <p:nvSpPr>
          <p:cNvPr id="5" name="Footer Placeholder 4"/>
          <p:cNvSpPr>
            <a:spLocks noGrp="1"/>
          </p:cNvSpPr>
          <p:nvPr>
            <p:ph type="ftr" sz="quarter" idx="11"/>
          </p:nvPr>
        </p:nvSpPr>
        <p:spPr/>
        <p:txBody>
          <a:bodyPr/>
          <a:lstStyle/>
          <a:p>
            <a:r>
              <a:rPr lang="en-US"/>
              <a:t>A CATHOLIC INTRODUCTION TO ARTIFICIAL INTELLIGENCE</a:t>
            </a:r>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24499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8A5A9-6D9B-4002-8758-22F05F635814}" type="datetime1">
              <a:rPr lang="en-US" smtClean="0"/>
              <a:t>3/9/2026</a:t>
            </a:fld>
            <a:endParaRPr lang="en-US"/>
          </a:p>
        </p:txBody>
      </p:sp>
      <p:sp>
        <p:nvSpPr>
          <p:cNvPr id="5" name="Footer Placeholder 4"/>
          <p:cNvSpPr>
            <a:spLocks noGrp="1"/>
          </p:cNvSpPr>
          <p:nvPr>
            <p:ph type="ftr" sz="quarter" idx="11"/>
          </p:nvPr>
        </p:nvSpPr>
        <p:spPr/>
        <p:txBody>
          <a:bodyPr/>
          <a:lstStyle/>
          <a:p>
            <a:r>
              <a:rPr lang="en-US"/>
              <a:t>A CATHOLIC INTRODUCTION TO ARTIFICIAL INTELLIGENCE</a:t>
            </a:r>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54766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67A08A-56FA-4B1A-93EF-D6F4B6EE46E5}" type="datetime1">
              <a:rPr lang="en-US" smtClean="0"/>
              <a:t>3/9/2026</a:t>
            </a:fld>
            <a:endParaRPr lang="en-US"/>
          </a:p>
        </p:txBody>
      </p:sp>
      <p:sp>
        <p:nvSpPr>
          <p:cNvPr id="6" name="Footer Placeholder 5"/>
          <p:cNvSpPr>
            <a:spLocks noGrp="1"/>
          </p:cNvSpPr>
          <p:nvPr>
            <p:ph type="ftr" sz="quarter" idx="11"/>
          </p:nvPr>
        </p:nvSpPr>
        <p:spPr/>
        <p:txBody>
          <a:bodyPr/>
          <a:lstStyle/>
          <a:p>
            <a:r>
              <a:rPr lang="en-US"/>
              <a:t>A CATHOLIC INTRODUCTION TO ARTIFICIAL INTELLIGENCE</a:t>
            </a:r>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B06BE37-4A61-4FDA-A19D-D5A995154A6C}" type="datetime1">
              <a:rPr lang="en-US" smtClean="0"/>
              <a:t>3/9/2026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a:t>A CATHOLIC INTRODUCTION TO ARTIFICIAL INTELLIGENCE</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31375A4-56A4-47D6-9801-1991572033F7}" type="slidenum">
              <a:rPr lang="en-US" smtClean="0"/>
              <a:pPr/>
              <a:t>‹#›</a:t>
            </a:fld>
            <a:endParaRPr lang="en-US"/>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53475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56" r:id="rId12"/>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jpe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https://www.youtube.com/watch?v=4DQsG3TKQ0I" TargetMode="External"/><Relationship Id="rId7" Type="http://schemas.openxmlformats.org/officeDocument/2006/relationships/hyperlink" Target="https://www.youtube.com/watch?v=T6KtiOmRkn8" TargetMode="External"/><Relationship Id="rId2" Type="http://schemas.openxmlformats.org/officeDocument/2006/relationships/hyperlink" Target="https://www.youtube.com/watch?v=s93KC4AGKnY" TargetMode="External"/><Relationship Id="rId1" Type="http://schemas.openxmlformats.org/officeDocument/2006/relationships/slideLayout" Target="../slideLayouts/slideLayout2.xml"/><Relationship Id="rId6" Type="http://schemas.openxmlformats.org/officeDocument/2006/relationships/hyperlink" Target="https://www.youtube.com/watch?v=ZTrebszENNw" TargetMode="External"/><Relationship Id="rId5" Type="http://schemas.openxmlformats.org/officeDocument/2006/relationships/hyperlink" Target="https://www.youtube.com/watch?v=cpraXaw7dyc" TargetMode="External"/><Relationship Id="rId4" Type="http://schemas.openxmlformats.org/officeDocument/2006/relationships/hyperlink" Target="https://www.youtube.com/watch?v=05bGPiyM4jg" TargetMode="External"/><Relationship Id="rId9"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Wjrdr0NU4Sk" TargetMode="External"/><Relationship Id="rId2" Type="http://schemas.openxmlformats.org/officeDocument/2006/relationships/hyperlink" Target="https://www.youtube.com/watch?v=8u4SeFnY9Jc&amp;t=283s"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3165763"/>
            <a:ext cx="11963400" cy="1711037"/>
          </a:xfrm>
        </p:spPr>
        <p:txBody>
          <a:bodyPr>
            <a:normAutofit/>
          </a:bodyPr>
          <a:lstStyle/>
          <a:p>
            <a:pPr algn="ctr"/>
            <a:r>
              <a:rPr lang="en-US" sz="4800" dirty="0"/>
              <a:t>A Catholic introduction to artificial intelligence</a:t>
            </a:r>
            <a:br>
              <a:rPr lang="en-US" sz="4800" dirty="0"/>
            </a:br>
            <a:r>
              <a:rPr lang="en-US" sz="4800" dirty="0"/>
              <a:t>Class 1 lecture</a:t>
            </a:r>
            <a:endParaRPr sz="4800" dirty="0"/>
          </a:p>
        </p:txBody>
      </p:sp>
      <p:sp>
        <p:nvSpPr>
          <p:cNvPr id="3" name="Subtitle 2"/>
          <p:cNvSpPr>
            <a:spLocks noGrp="1"/>
          </p:cNvSpPr>
          <p:nvPr>
            <p:ph type="subTitle" idx="1"/>
          </p:nvPr>
        </p:nvSpPr>
        <p:spPr/>
        <p:txBody>
          <a:bodyPr/>
          <a:lstStyle/>
          <a:p>
            <a:r>
              <a:rPr lang="en-US" dirty="0"/>
              <a:t>Home School Connections</a:t>
            </a:r>
          </a:p>
          <a:p>
            <a:r>
              <a:rPr lang="en-US" dirty="0"/>
              <a:t>Instructor – Mr. Dan Goddu, BSCS LSSBB CIAAI-JHU</a:t>
            </a:r>
            <a:endParaRPr dirty="0"/>
          </a:p>
        </p:txBody>
      </p:sp>
    </p:spTree>
    <p:extLst>
      <p:ext uri="{BB962C8B-B14F-4D97-AF65-F5344CB8AC3E}">
        <p14:creationId xmlns:p14="http://schemas.microsoft.com/office/powerpoint/2010/main" val="24245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B1AEF-82D2-4E07-AA73-112EFD6049FF}"/>
              </a:ext>
            </a:extLst>
          </p:cNvPr>
          <p:cNvSpPr>
            <a:spLocks noGrp="1"/>
          </p:cNvSpPr>
          <p:nvPr>
            <p:ph type="title"/>
          </p:nvPr>
        </p:nvSpPr>
        <p:spPr>
          <a:xfrm>
            <a:off x="697992" y="59957"/>
            <a:ext cx="10808208" cy="1208952"/>
          </a:xfrm>
        </p:spPr>
        <p:txBody>
          <a:bodyPr vert="horz" lIns="91440" tIns="45720" rIns="91440" bIns="45720" rtlCol="0" anchor="b">
            <a:normAutofit/>
          </a:bodyPr>
          <a:lstStyle/>
          <a:p>
            <a:r>
              <a:rPr lang="en-US" sz="4700" dirty="0"/>
              <a:t>Opening Prayer</a:t>
            </a:r>
          </a:p>
        </p:txBody>
      </p:sp>
      <p:sp>
        <p:nvSpPr>
          <p:cNvPr id="3" name="Footer Placeholder 2">
            <a:extLst>
              <a:ext uri="{FF2B5EF4-FFF2-40B4-BE49-F238E27FC236}">
                <a16:creationId xmlns:a16="http://schemas.microsoft.com/office/drawing/2014/main" id="{28156912-BF42-F7A5-C1BB-A211F2931880}"/>
              </a:ext>
            </a:extLst>
          </p:cNvPr>
          <p:cNvSpPr>
            <a:spLocks noGrp="1"/>
          </p:cNvSpPr>
          <p:nvPr>
            <p:ph type="ftr" sz="quarter" idx="11"/>
          </p:nvPr>
        </p:nvSpPr>
        <p:spPr/>
        <p:txBody>
          <a:bodyPr/>
          <a:lstStyle/>
          <a:p>
            <a:r>
              <a:rPr lang="en-US"/>
              <a:t>A CATHOLIC INTRODUCTION TO ARTIFICIAL INTELLIGENCE</a:t>
            </a:r>
          </a:p>
        </p:txBody>
      </p:sp>
      <p:sp>
        <p:nvSpPr>
          <p:cNvPr id="4" name="Slide Number Placeholder 3">
            <a:extLst>
              <a:ext uri="{FF2B5EF4-FFF2-40B4-BE49-F238E27FC236}">
                <a16:creationId xmlns:a16="http://schemas.microsoft.com/office/drawing/2014/main" id="{8B472977-D56B-2E68-6084-4CCA2151ACE5}"/>
              </a:ext>
            </a:extLst>
          </p:cNvPr>
          <p:cNvSpPr>
            <a:spLocks noGrp="1"/>
          </p:cNvSpPr>
          <p:nvPr>
            <p:ph type="sldNum" sz="quarter" idx="12"/>
          </p:nvPr>
        </p:nvSpPr>
        <p:spPr/>
        <p:txBody>
          <a:bodyPr/>
          <a:lstStyle/>
          <a:p>
            <a:fld id="{E31375A4-56A4-47D6-9801-1991572033F7}" type="slidenum">
              <a:rPr lang="en-US" smtClean="0"/>
              <a:t>2</a:t>
            </a:fld>
            <a:endParaRPr lang="en-US"/>
          </a:p>
        </p:txBody>
      </p:sp>
      <p:sp>
        <p:nvSpPr>
          <p:cNvPr id="5" name="TextBox 4">
            <a:extLst>
              <a:ext uri="{FF2B5EF4-FFF2-40B4-BE49-F238E27FC236}">
                <a16:creationId xmlns:a16="http://schemas.microsoft.com/office/drawing/2014/main" id="{90D2891F-828F-07E5-1D88-D8582304D57D}"/>
              </a:ext>
            </a:extLst>
          </p:cNvPr>
          <p:cNvSpPr txBox="1"/>
          <p:nvPr/>
        </p:nvSpPr>
        <p:spPr>
          <a:xfrm>
            <a:off x="697992" y="1474128"/>
            <a:ext cx="5398008" cy="4801314"/>
          </a:xfrm>
          <a:prstGeom prst="rect">
            <a:avLst/>
          </a:prstGeom>
          <a:noFill/>
        </p:spPr>
        <p:txBody>
          <a:bodyPr wrap="square">
            <a:spAutoFit/>
          </a:bodyPr>
          <a:lstStyle/>
          <a:p>
            <a:r>
              <a:rPr lang="en-US" sz="1800" dirty="0"/>
              <a:t>O Glorious St. Joseph, model of all those who are devoted to labor, obtain for me the grace to work conscientiously, putting the call of duty above my natural inclinations; to work with gratitude and joy, in a spirit of penance for the remission of my sins, considering it an honor to employ and develop by means of labor the gifts received from God; to work with order, peace, moderation, and patience, without ever shrinking from weariness and difficulties; to work above all with purity of intention and detachment from self, having always death before my eyes and the account that I must render of time lost, of talents wasted, of good omitted, of vain complacency in success, so fatal to the work of God. All for Jesus, all through Mary, all after thine example, O Patriarch, St. Joseph. Such shall be my motto in life and in death. Amen.</a:t>
            </a:r>
          </a:p>
        </p:txBody>
      </p:sp>
      <p:pic>
        <p:nvPicPr>
          <p:cNvPr id="6" name="Picture 2" descr="Image of St. Joseph">
            <a:extLst>
              <a:ext uri="{FF2B5EF4-FFF2-40B4-BE49-F238E27FC236}">
                <a16:creationId xmlns:a16="http://schemas.microsoft.com/office/drawing/2014/main" id="{89EB9843-A939-98A3-0280-D322142816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89519" y="664433"/>
            <a:ext cx="3218688" cy="5343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1603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24B7-B501-A2F2-397E-952B59739488}"/>
              </a:ext>
            </a:extLst>
          </p:cNvPr>
          <p:cNvSpPr>
            <a:spLocks noGrp="1"/>
          </p:cNvSpPr>
          <p:nvPr>
            <p:ph type="title"/>
          </p:nvPr>
        </p:nvSpPr>
        <p:spPr/>
        <p:txBody>
          <a:bodyPr vert="horz" lIns="91440" tIns="45720" rIns="91440" bIns="45720" rtlCol="0" anchor="b">
            <a:normAutofit/>
          </a:bodyPr>
          <a:lstStyle/>
          <a:p>
            <a:r>
              <a:rPr lang="en-US" dirty="0"/>
              <a:t>What you will learn in this class</a:t>
            </a:r>
          </a:p>
        </p:txBody>
      </p:sp>
      <p:sp>
        <p:nvSpPr>
          <p:cNvPr id="3" name="Content Placeholder 2">
            <a:extLst>
              <a:ext uri="{FF2B5EF4-FFF2-40B4-BE49-F238E27FC236}">
                <a16:creationId xmlns:a16="http://schemas.microsoft.com/office/drawing/2014/main" id="{89D5F51F-3803-F1FD-12FF-8D11EF333100}"/>
              </a:ext>
            </a:extLst>
          </p:cNvPr>
          <p:cNvSpPr>
            <a:spLocks noGrp="1"/>
          </p:cNvSpPr>
          <p:nvPr>
            <p:ph idx="1"/>
          </p:nvPr>
        </p:nvSpPr>
        <p:spPr/>
        <p:txBody>
          <a:bodyPr>
            <a:normAutofit/>
          </a:bodyPr>
          <a:lstStyle/>
          <a:p>
            <a:pPr indent="-274320">
              <a:buFont typeface="Wingdings" panose="05000000000000000000" pitchFamily="2" charset="2"/>
              <a:buChar char="§"/>
            </a:pPr>
            <a:r>
              <a:rPr lang="en-US" sz="2800" dirty="0">
                <a:latin typeface="Figtree"/>
              </a:rPr>
              <a:t>Understand the course structure and expectations.</a:t>
            </a:r>
          </a:p>
          <a:p>
            <a:pPr indent="-274320">
              <a:buFont typeface="Wingdings" panose="05000000000000000000" pitchFamily="2" charset="2"/>
              <a:buChar char="§"/>
            </a:pPr>
            <a:r>
              <a:rPr lang="en-US" sz="2800" dirty="0">
                <a:solidFill>
                  <a:schemeClr val="tx1"/>
                </a:solidFill>
                <a:latin typeface="Figtree"/>
              </a:rPr>
              <a:t>Define Artificial Intelligence (AI) in our own words.</a:t>
            </a:r>
          </a:p>
          <a:p>
            <a:pPr indent="-274320">
              <a:buFont typeface="Wingdings" panose="05000000000000000000" pitchFamily="2" charset="2"/>
              <a:buChar char="§"/>
            </a:pPr>
            <a:r>
              <a:rPr lang="en-US" sz="2800" dirty="0">
                <a:solidFill>
                  <a:schemeClr val="tx1"/>
                </a:solidFill>
                <a:latin typeface="Figtree"/>
              </a:rPr>
              <a:t>Distinguish between AI, Machine Learning (ML), and Deep Learning (DL).</a:t>
            </a:r>
          </a:p>
          <a:p>
            <a:pPr indent="-274320">
              <a:buFont typeface="Wingdings" panose="05000000000000000000" pitchFamily="2" charset="2"/>
              <a:buChar char="§"/>
            </a:pPr>
            <a:r>
              <a:rPr lang="en-US" sz="2800" dirty="0">
                <a:solidFill>
                  <a:schemeClr val="tx1"/>
                </a:solidFill>
                <a:latin typeface="Figtree"/>
              </a:rPr>
              <a:t>Identify examples of AI in their daily lives.</a:t>
            </a:r>
          </a:p>
          <a:p>
            <a:pPr indent="-274320">
              <a:buFont typeface="Wingdings" panose="05000000000000000000" pitchFamily="2" charset="2"/>
              <a:buChar char="§"/>
            </a:pPr>
            <a:r>
              <a:rPr lang="en-US" sz="2800" dirty="0">
                <a:solidFill>
                  <a:schemeClr val="tx1"/>
                </a:solidFill>
                <a:latin typeface="Figtree"/>
              </a:rPr>
              <a:t>Begin to think critically about what AI is and what it is not.</a:t>
            </a:r>
          </a:p>
        </p:txBody>
      </p:sp>
      <p:sp>
        <p:nvSpPr>
          <p:cNvPr id="7" name="Footer Placeholder 6">
            <a:extLst>
              <a:ext uri="{FF2B5EF4-FFF2-40B4-BE49-F238E27FC236}">
                <a16:creationId xmlns:a16="http://schemas.microsoft.com/office/drawing/2014/main" id="{A1522D75-ADA9-B456-3950-F188DEC6791C}"/>
              </a:ext>
            </a:extLst>
          </p:cNvPr>
          <p:cNvSpPr>
            <a:spLocks noGrp="1"/>
          </p:cNvSpPr>
          <p:nvPr>
            <p:ph type="ftr" sz="quarter" idx="11"/>
          </p:nvPr>
        </p:nvSpPr>
        <p:spPr/>
        <p:txBody>
          <a:bodyPr/>
          <a:lstStyle/>
          <a:p>
            <a:r>
              <a:rPr lang="en-US"/>
              <a:t>A CATHOLIC INTRODUCTION TO ARTIFICIAL INTELLIGENCE</a:t>
            </a:r>
          </a:p>
        </p:txBody>
      </p:sp>
      <p:sp>
        <p:nvSpPr>
          <p:cNvPr id="8" name="Slide Number Placeholder 7">
            <a:extLst>
              <a:ext uri="{FF2B5EF4-FFF2-40B4-BE49-F238E27FC236}">
                <a16:creationId xmlns:a16="http://schemas.microsoft.com/office/drawing/2014/main" id="{D6490A12-0395-322B-0DDA-648E7CC0B581}"/>
              </a:ext>
            </a:extLst>
          </p:cNvPr>
          <p:cNvSpPr>
            <a:spLocks noGrp="1"/>
          </p:cNvSpPr>
          <p:nvPr>
            <p:ph type="sldNum" sz="quarter" idx="12"/>
          </p:nvPr>
        </p:nvSpPr>
        <p:spPr/>
        <p:txBody>
          <a:bodyPr/>
          <a:lstStyle/>
          <a:p>
            <a:fld id="{E31375A4-56A4-47D6-9801-1991572033F7}" type="slidenum">
              <a:rPr lang="en-US" smtClean="0"/>
              <a:t>3</a:t>
            </a:fld>
            <a:endParaRPr lang="en-US"/>
          </a:p>
        </p:txBody>
      </p:sp>
      <p:pic>
        <p:nvPicPr>
          <p:cNvPr id="4" name="Picture 3">
            <a:extLst>
              <a:ext uri="{FF2B5EF4-FFF2-40B4-BE49-F238E27FC236}">
                <a16:creationId xmlns:a16="http://schemas.microsoft.com/office/drawing/2014/main" id="{6121E3F6-B1EB-5E15-BD19-ADFC2EEF3924}"/>
              </a:ext>
            </a:extLst>
          </p:cNvPr>
          <p:cNvPicPr>
            <a:picLocks noChangeAspect="1"/>
          </p:cNvPicPr>
          <p:nvPr/>
        </p:nvPicPr>
        <p:blipFill>
          <a:blip r:embed="rId2"/>
          <a:stretch>
            <a:fillRect/>
          </a:stretch>
        </p:blipFill>
        <p:spPr>
          <a:xfrm>
            <a:off x="11158347" y="5259124"/>
            <a:ext cx="1022196" cy="1485900"/>
          </a:xfrm>
          <a:prstGeom prst="rect">
            <a:avLst/>
          </a:prstGeom>
        </p:spPr>
      </p:pic>
      <p:pic>
        <p:nvPicPr>
          <p:cNvPr id="6" name="Picture 5">
            <a:extLst>
              <a:ext uri="{FF2B5EF4-FFF2-40B4-BE49-F238E27FC236}">
                <a16:creationId xmlns:a16="http://schemas.microsoft.com/office/drawing/2014/main" id="{CD0F10BE-2776-0FB0-FA4E-C880AEC952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spTree>
    <p:extLst>
      <p:ext uri="{BB962C8B-B14F-4D97-AF65-F5344CB8AC3E}">
        <p14:creationId xmlns:p14="http://schemas.microsoft.com/office/powerpoint/2010/main" val="441106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A4B0D-1FC8-5EA4-7586-EAD9EDC0E82A}"/>
              </a:ext>
            </a:extLst>
          </p:cNvPr>
          <p:cNvSpPr>
            <a:spLocks noGrp="1"/>
          </p:cNvSpPr>
          <p:nvPr>
            <p:ph type="title"/>
          </p:nvPr>
        </p:nvSpPr>
        <p:spPr/>
        <p:txBody>
          <a:bodyPr/>
          <a:lstStyle/>
          <a:p>
            <a:r>
              <a:rPr lang="en-US" dirty="0"/>
              <a:t>What is AI?</a:t>
            </a:r>
          </a:p>
        </p:txBody>
      </p:sp>
      <p:sp>
        <p:nvSpPr>
          <p:cNvPr id="3" name="Content Placeholder 2">
            <a:extLst>
              <a:ext uri="{FF2B5EF4-FFF2-40B4-BE49-F238E27FC236}">
                <a16:creationId xmlns:a16="http://schemas.microsoft.com/office/drawing/2014/main" id="{DFFA86FC-B692-C2D5-E545-29F90EC76347}"/>
              </a:ext>
            </a:extLst>
          </p:cNvPr>
          <p:cNvSpPr>
            <a:spLocks noGrp="1"/>
          </p:cNvSpPr>
          <p:nvPr>
            <p:ph idx="1"/>
          </p:nvPr>
        </p:nvSpPr>
        <p:spPr/>
        <p:txBody>
          <a:bodyPr>
            <a:normAutofit/>
          </a:bodyPr>
          <a:lstStyle/>
          <a:p>
            <a:r>
              <a:rPr lang="en-US" sz="2400" dirty="0"/>
              <a:t>Artificial intelligence is an ever-expanding branch of </a:t>
            </a:r>
            <a:r>
              <a:rPr lang="en-US" sz="2400" dirty="0">
                <a:solidFill>
                  <a:srgbClr val="FF0000"/>
                </a:solidFill>
                <a:highlight>
                  <a:srgbClr val="FFFF00"/>
                </a:highlight>
              </a:rPr>
              <a:t>computer</a:t>
            </a:r>
            <a:r>
              <a:rPr lang="en-US" sz="2400" dirty="0">
                <a:highlight>
                  <a:srgbClr val="FFFF00"/>
                </a:highlight>
              </a:rPr>
              <a:t> </a:t>
            </a:r>
            <a:r>
              <a:rPr lang="en-US" sz="2400" dirty="0">
                <a:solidFill>
                  <a:srgbClr val="FF0000"/>
                </a:solidFill>
                <a:highlight>
                  <a:srgbClr val="FFFF00"/>
                </a:highlight>
              </a:rPr>
              <a:t>science</a:t>
            </a:r>
            <a:r>
              <a:rPr lang="en-US" sz="2400" dirty="0">
                <a:highlight>
                  <a:srgbClr val="FFFF00"/>
                </a:highlight>
              </a:rPr>
              <a:t> </a:t>
            </a:r>
            <a:r>
              <a:rPr lang="en-US" sz="2400" dirty="0"/>
              <a:t>that focuses on making machines capable of performing tasks that usually require human intelligence, such as “reasoning”, solving problems, making decisions, “perceiving the world”, making meaning, and learning from experience. </a:t>
            </a:r>
          </a:p>
        </p:txBody>
      </p:sp>
      <p:sp>
        <p:nvSpPr>
          <p:cNvPr id="4" name="Footer Placeholder 3">
            <a:extLst>
              <a:ext uri="{FF2B5EF4-FFF2-40B4-BE49-F238E27FC236}">
                <a16:creationId xmlns:a16="http://schemas.microsoft.com/office/drawing/2014/main" id="{B1364039-B07F-E444-6567-88CA6AB84C7D}"/>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63964940-105F-CA3E-F177-9064DAF4C565}"/>
              </a:ext>
            </a:extLst>
          </p:cNvPr>
          <p:cNvSpPr>
            <a:spLocks noGrp="1"/>
          </p:cNvSpPr>
          <p:nvPr>
            <p:ph type="sldNum" sz="quarter" idx="12"/>
          </p:nvPr>
        </p:nvSpPr>
        <p:spPr/>
        <p:txBody>
          <a:bodyPr/>
          <a:lstStyle/>
          <a:p>
            <a:fld id="{E31375A4-56A4-47D6-9801-1991572033F7}" type="slidenum">
              <a:rPr lang="en-US" smtClean="0"/>
              <a:t>4</a:t>
            </a:fld>
            <a:endParaRPr lang="en-US"/>
          </a:p>
        </p:txBody>
      </p:sp>
      <p:pic>
        <p:nvPicPr>
          <p:cNvPr id="10" name="Picture 9">
            <a:extLst>
              <a:ext uri="{FF2B5EF4-FFF2-40B4-BE49-F238E27FC236}">
                <a16:creationId xmlns:a16="http://schemas.microsoft.com/office/drawing/2014/main" id="{5FB3CEC4-A18B-CDD6-F195-7188943E5562}"/>
              </a:ext>
            </a:extLst>
          </p:cNvPr>
          <p:cNvPicPr>
            <a:picLocks noChangeAspect="1"/>
          </p:cNvPicPr>
          <p:nvPr/>
        </p:nvPicPr>
        <p:blipFill>
          <a:blip r:embed="rId2"/>
          <a:stretch>
            <a:fillRect/>
          </a:stretch>
        </p:blipFill>
        <p:spPr>
          <a:xfrm>
            <a:off x="3810000" y="3901908"/>
            <a:ext cx="4855050" cy="2488124"/>
          </a:xfrm>
          <a:prstGeom prst="rect">
            <a:avLst/>
          </a:prstGeom>
        </p:spPr>
      </p:pic>
      <p:pic>
        <p:nvPicPr>
          <p:cNvPr id="6" name="Picture 5">
            <a:extLst>
              <a:ext uri="{FF2B5EF4-FFF2-40B4-BE49-F238E27FC236}">
                <a16:creationId xmlns:a16="http://schemas.microsoft.com/office/drawing/2014/main" id="{9B4BCDA9-2F8F-B541-95CB-8FAC8088AC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0AFECA08-8F80-D936-69F9-4A7F476FCD53}"/>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2986194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8B298-0276-9DCF-33BD-D7BF2081F71C}"/>
              </a:ext>
            </a:extLst>
          </p:cNvPr>
          <p:cNvSpPr>
            <a:spLocks noGrp="1"/>
          </p:cNvSpPr>
          <p:nvPr>
            <p:ph type="title"/>
          </p:nvPr>
        </p:nvSpPr>
        <p:spPr/>
        <p:txBody>
          <a:bodyPr/>
          <a:lstStyle/>
          <a:p>
            <a:r>
              <a:rPr lang="en-US" dirty="0"/>
              <a:t>The Big Picture of AI</a:t>
            </a:r>
          </a:p>
        </p:txBody>
      </p:sp>
      <p:sp>
        <p:nvSpPr>
          <p:cNvPr id="3" name="Content Placeholder 2">
            <a:extLst>
              <a:ext uri="{FF2B5EF4-FFF2-40B4-BE49-F238E27FC236}">
                <a16:creationId xmlns:a16="http://schemas.microsoft.com/office/drawing/2014/main" id="{6EC37E03-169E-57D6-382F-05C2AF4EE55E}"/>
              </a:ext>
            </a:extLst>
          </p:cNvPr>
          <p:cNvSpPr>
            <a:spLocks noGrp="1"/>
          </p:cNvSpPr>
          <p:nvPr>
            <p:ph idx="1"/>
          </p:nvPr>
        </p:nvSpPr>
        <p:spPr/>
        <p:txBody>
          <a:bodyPr/>
          <a:lstStyle/>
          <a:p>
            <a:pPr indent="-274320">
              <a:buFont typeface="Wingdings" panose="05000000000000000000" pitchFamily="2" charset="2"/>
              <a:buChar char="§"/>
            </a:pPr>
            <a:r>
              <a:rPr lang="en-US" dirty="0"/>
              <a:t>Predictive analytics (forecasting sales, risk, fraud)</a:t>
            </a:r>
          </a:p>
          <a:p>
            <a:pPr indent="-274320">
              <a:buFont typeface="Wingdings" panose="05000000000000000000" pitchFamily="2" charset="2"/>
              <a:buChar char="§"/>
            </a:pPr>
            <a:r>
              <a:rPr lang="en-US" dirty="0"/>
              <a:t>Recommendation systems (Netflix, Amazon)</a:t>
            </a:r>
          </a:p>
          <a:p>
            <a:pPr indent="-274320">
              <a:buFont typeface="Wingdings" panose="05000000000000000000" pitchFamily="2" charset="2"/>
              <a:buChar char="§"/>
            </a:pPr>
            <a:r>
              <a:rPr lang="en-US" dirty="0"/>
              <a:t>Computer vision (medical imaging, self-driving cars)</a:t>
            </a:r>
          </a:p>
          <a:p>
            <a:pPr indent="-274320">
              <a:buFont typeface="Wingdings" panose="05000000000000000000" pitchFamily="2" charset="2"/>
              <a:buChar char="§"/>
            </a:pPr>
            <a:r>
              <a:rPr lang="en-US" dirty="0"/>
              <a:t>Robotics</a:t>
            </a:r>
          </a:p>
          <a:p>
            <a:pPr indent="-274320">
              <a:buFont typeface="Wingdings" panose="05000000000000000000" pitchFamily="2" charset="2"/>
              <a:buChar char="§"/>
            </a:pPr>
            <a:r>
              <a:rPr lang="en-US" dirty="0"/>
              <a:t>Speech recognition</a:t>
            </a:r>
          </a:p>
          <a:p>
            <a:pPr indent="-274320">
              <a:buFont typeface="Wingdings" panose="05000000000000000000" pitchFamily="2" charset="2"/>
              <a:buChar char="§"/>
            </a:pPr>
            <a:r>
              <a:rPr lang="en-US" dirty="0"/>
              <a:t>Search &amp; ranking</a:t>
            </a:r>
          </a:p>
          <a:p>
            <a:pPr indent="-274320">
              <a:buFont typeface="Wingdings" panose="05000000000000000000" pitchFamily="2" charset="2"/>
              <a:buChar char="§"/>
            </a:pPr>
            <a:r>
              <a:rPr lang="en-US" dirty="0"/>
              <a:t>Optimization systems</a:t>
            </a:r>
          </a:p>
          <a:p>
            <a:pPr indent="-274320">
              <a:buFont typeface="Wingdings" panose="05000000000000000000" pitchFamily="2" charset="2"/>
              <a:buChar char="§"/>
            </a:pPr>
            <a:r>
              <a:rPr lang="en-US" dirty="0"/>
              <a:t>Generative</a:t>
            </a:r>
          </a:p>
        </p:txBody>
      </p:sp>
      <p:sp>
        <p:nvSpPr>
          <p:cNvPr id="4" name="Footer Placeholder 3">
            <a:extLst>
              <a:ext uri="{FF2B5EF4-FFF2-40B4-BE49-F238E27FC236}">
                <a16:creationId xmlns:a16="http://schemas.microsoft.com/office/drawing/2014/main" id="{7A727460-1360-6E72-1FE7-06837631B61C}"/>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03189840-93AC-DC45-8C4B-26D2B07237E9}"/>
              </a:ext>
            </a:extLst>
          </p:cNvPr>
          <p:cNvSpPr>
            <a:spLocks noGrp="1"/>
          </p:cNvSpPr>
          <p:nvPr>
            <p:ph type="sldNum" sz="quarter" idx="12"/>
          </p:nvPr>
        </p:nvSpPr>
        <p:spPr/>
        <p:txBody>
          <a:bodyPr/>
          <a:lstStyle/>
          <a:p>
            <a:fld id="{E31375A4-56A4-47D6-9801-1991572033F7}" type="slidenum">
              <a:rPr lang="en-US" smtClean="0"/>
              <a:t>5</a:t>
            </a:fld>
            <a:endParaRPr lang="en-US"/>
          </a:p>
        </p:txBody>
      </p:sp>
      <p:pic>
        <p:nvPicPr>
          <p:cNvPr id="6" name="Picture 5">
            <a:extLst>
              <a:ext uri="{FF2B5EF4-FFF2-40B4-BE49-F238E27FC236}">
                <a16:creationId xmlns:a16="http://schemas.microsoft.com/office/drawing/2014/main" id="{B6EB8C84-5C86-BA8A-8B18-A717C0C259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38B6C61F-165E-6128-7B0D-EC40EB8AC6E3}"/>
              </a:ext>
            </a:extLst>
          </p:cNvPr>
          <p:cNvPicPr>
            <a:picLocks noChangeAspect="1"/>
          </p:cNvPicPr>
          <p:nvPr/>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230078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AF509-A01E-D947-2D44-45ED3793F44E}"/>
              </a:ext>
            </a:extLst>
          </p:cNvPr>
          <p:cNvSpPr>
            <a:spLocks noGrp="1"/>
          </p:cNvSpPr>
          <p:nvPr>
            <p:ph type="title"/>
          </p:nvPr>
        </p:nvSpPr>
        <p:spPr/>
        <p:txBody>
          <a:bodyPr/>
          <a:lstStyle/>
          <a:p>
            <a:r>
              <a:rPr lang="en-US" dirty="0"/>
              <a:t>most AI in the world is</a:t>
            </a:r>
          </a:p>
        </p:txBody>
      </p:sp>
      <p:sp>
        <p:nvSpPr>
          <p:cNvPr id="3" name="Content Placeholder 2">
            <a:extLst>
              <a:ext uri="{FF2B5EF4-FFF2-40B4-BE49-F238E27FC236}">
                <a16:creationId xmlns:a16="http://schemas.microsoft.com/office/drawing/2014/main" id="{B14AFFC5-2E44-B359-A91E-9E9494EAC6C7}"/>
              </a:ext>
            </a:extLst>
          </p:cNvPr>
          <p:cNvSpPr>
            <a:spLocks noGrp="1"/>
          </p:cNvSpPr>
          <p:nvPr>
            <p:ph idx="1"/>
          </p:nvPr>
        </p:nvSpPr>
        <p:spPr/>
        <p:txBody>
          <a:bodyPr/>
          <a:lstStyle/>
          <a:p>
            <a:pPr marL="342900" indent="-342900"/>
            <a:r>
              <a:rPr lang="en-US" dirty="0"/>
              <a:t>Fraud detection systems</a:t>
            </a:r>
          </a:p>
          <a:p>
            <a:pPr marL="342900" indent="-342900"/>
            <a:r>
              <a:rPr lang="en-US" dirty="0"/>
              <a:t>Logistics optimization</a:t>
            </a:r>
          </a:p>
          <a:p>
            <a:pPr marL="342900" indent="-342900"/>
            <a:r>
              <a:rPr lang="en-US" dirty="0"/>
              <a:t>Supply chain modeling</a:t>
            </a:r>
          </a:p>
          <a:p>
            <a:pPr marL="342900" indent="-342900"/>
            <a:r>
              <a:rPr lang="en-US" dirty="0"/>
              <a:t>Ad targeting</a:t>
            </a:r>
          </a:p>
          <a:p>
            <a:pPr marL="342900" indent="-342900"/>
            <a:r>
              <a:rPr lang="en-US" dirty="0"/>
              <a:t>Industrial automation</a:t>
            </a:r>
          </a:p>
          <a:p>
            <a:pPr marL="342900" indent="-342900"/>
            <a:r>
              <a:rPr lang="en-US" dirty="0"/>
              <a:t>Risk scoring</a:t>
            </a:r>
          </a:p>
          <a:p>
            <a:pPr marL="342900" indent="-342900"/>
            <a:r>
              <a:rPr lang="en-US" dirty="0"/>
              <a:t>Credit models</a:t>
            </a:r>
          </a:p>
          <a:p>
            <a:pPr marL="342900" indent="-342900"/>
            <a:r>
              <a:rPr lang="en-US" dirty="0"/>
              <a:t>Manufacturing control systems</a:t>
            </a:r>
          </a:p>
        </p:txBody>
      </p:sp>
      <p:sp>
        <p:nvSpPr>
          <p:cNvPr id="4" name="Footer Placeholder 3">
            <a:extLst>
              <a:ext uri="{FF2B5EF4-FFF2-40B4-BE49-F238E27FC236}">
                <a16:creationId xmlns:a16="http://schemas.microsoft.com/office/drawing/2014/main" id="{6C15E1B6-39A1-2776-E6CF-EDBD6ED76BDF}"/>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6947F165-B9EC-C895-F333-A41BEAC95697}"/>
              </a:ext>
            </a:extLst>
          </p:cNvPr>
          <p:cNvSpPr>
            <a:spLocks noGrp="1"/>
          </p:cNvSpPr>
          <p:nvPr>
            <p:ph type="sldNum" sz="quarter" idx="12"/>
          </p:nvPr>
        </p:nvSpPr>
        <p:spPr/>
        <p:txBody>
          <a:bodyPr/>
          <a:lstStyle/>
          <a:p>
            <a:fld id="{E31375A4-56A4-47D6-9801-1991572033F7}" type="slidenum">
              <a:rPr lang="en-US" smtClean="0"/>
              <a:t>6</a:t>
            </a:fld>
            <a:endParaRPr lang="en-US"/>
          </a:p>
        </p:txBody>
      </p:sp>
      <p:pic>
        <p:nvPicPr>
          <p:cNvPr id="6" name="Picture 5">
            <a:extLst>
              <a:ext uri="{FF2B5EF4-FFF2-40B4-BE49-F238E27FC236}">
                <a16:creationId xmlns:a16="http://schemas.microsoft.com/office/drawing/2014/main" id="{DD27CDF7-E2C1-CBE0-72AF-34C0834F93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7DCCCED7-CF2A-F469-DAC3-5942280F09CB}"/>
              </a:ext>
            </a:extLst>
          </p:cNvPr>
          <p:cNvPicPr>
            <a:picLocks noChangeAspect="1"/>
          </p:cNvPicPr>
          <p:nvPr/>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2115279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EFCCE-E9AD-3391-3126-35F064858A53}"/>
              </a:ext>
            </a:extLst>
          </p:cNvPr>
          <p:cNvSpPr>
            <a:spLocks noGrp="1"/>
          </p:cNvSpPr>
          <p:nvPr>
            <p:ph type="title"/>
          </p:nvPr>
        </p:nvSpPr>
        <p:spPr/>
        <p:txBody>
          <a:bodyPr/>
          <a:lstStyle/>
          <a:p>
            <a:r>
              <a:rPr lang="en-US" dirty="0"/>
              <a:t>Types of ai by market share</a:t>
            </a:r>
          </a:p>
        </p:txBody>
      </p:sp>
      <p:graphicFrame>
        <p:nvGraphicFramePr>
          <p:cNvPr id="6" name="Content Placeholder 5">
            <a:extLst>
              <a:ext uri="{FF2B5EF4-FFF2-40B4-BE49-F238E27FC236}">
                <a16:creationId xmlns:a16="http://schemas.microsoft.com/office/drawing/2014/main" id="{C61A4188-3B77-6139-384B-C5A28DA74008}"/>
              </a:ext>
            </a:extLst>
          </p:cNvPr>
          <p:cNvGraphicFramePr>
            <a:graphicFrameLocks noGrp="1"/>
          </p:cNvGraphicFramePr>
          <p:nvPr>
            <p:ph idx="1"/>
            <p:extLst>
              <p:ext uri="{D42A27DB-BD31-4B8C-83A1-F6EECF244321}">
                <p14:modId xmlns:p14="http://schemas.microsoft.com/office/powerpoint/2010/main" val="2432440857"/>
              </p:ext>
            </p:extLst>
          </p:nvPr>
        </p:nvGraphicFramePr>
        <p:xfrm>
          <a:off x="1023938" y="2286000"/>
          <a:ext cx="9720262" cy="4022725"/>
        </p:xfrm>
        <a:graphic>
          <a:graphicData uri="http://schemas.openxmlformats.org/drawingml/2006/chart">
            <c:chart xmlns:c="http://schemas.openxmlformats.org/drawingml/2006/chart" xmlns:r="http://schemas.openxmlformats.org/officeDocument/2006/relationships" r:id="rId2"/>
          </a:graphicData>
        </a:graphic>
      </p:graphicFrame>
      <p:sp>
        <p:nvSpPr>
          <p:cNvPr id="3" name="Footer Placeholder 2">
            <a:extLst>
              <a:ext uri="{FF2B5EF4-FFF2-40B4-BE49-F238E27FC236}">
                <a16:creationId xmlns:a16="http://schemas.microsoft.com/office/drawing/2014/main" id="{F3AFF27F-EEDC-001B-A110-AD5D21D7592A}"/>
              </a:ext>
            </a:extLst>
          </p:cNvPr>
          <p:cNvSpPr>
            <a:spLocks noGrp="1"/>
          </p:cNvSpPr>
          <p:nvPr>
            <p:ph type="ftr" sz="quarter" idx="11"/>
          </p:nvPr>
        </p:nvSpPr>
        <p:spPr/>
        <p:txBody>
          <a:bodyPr/>
          <a:lstStyle/>
          <a:p>
            <a:r>
              <a:rPr lang="en-US"/>
              <a:t>A CATHOLIC INTRODUCTION TO ARTIFICIAL INTELLIGENCE</a:t>
            </a:r>
          </a:p>
        </p:txBody>
      </p:sp>
      <p:sp>
        <p:nvSpPr>
          <p:cNvPr id="4" name="Slide Number Placeholder 3">
            <a:extLst>
              <a:ext uri="{FF2B5EF4-FFF2-40B4-BE49-F238E27FC236}">
                <a16:creationId xmlns:a16="http://schemas.microsoft.com/office/drawing/2014/main" id="{44B9B77C-2331-3A97-B7BB-BFD74420D41A}"/>
              </a:ext>
            </a:extLst>
          </p:cNvPr>
          <p:cNvSpPr>
            <a:spLocks noGrp="1"/>
          </p:cNvSpPr>
          <p:nvPr>
            <p:ph type="sldNum" sz="quarter" idx="12"/>
          </p:nvPr>
        </p:nvSpPr>
        <p:spPr/>
        <p:txBody>
          <a:bodyPr/>
          <a:lstStyle/>
          <a:p>
            <a:fld id="{E31375A4-56A4-47D6-9801-1991572033F7}" type="slidenum">
              <a:rPr lang="en-US" smtClean="0"/>
              <a:t>7</a:t>
            </a:fld>
            <a:endParaRPr lang="en-US"/>
          </a:p>
        </p:txBody>
      </p:sp>
      <p:pic>
        <p:nvPicPr>
          <p:cNvPr id="5" name="Picture 4">
            <a:extLst>
              <a:ext uri="{FF2B5EF4-FFF2-40B4-BE49-F238E27FC236}">
                <a16:creationId xmlns:a16="http://schemas.microsoft.com/office/drawing/2014/main" id="{182F0577-FC66-00D9-986E-CCF7F18D21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5F6BC98A-2CA7-512A-F575-668D5CB4554C}"/>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4244799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7F87-5739-DCF4-B798-ADCCAB8E74EB}"/>
              </a:ext>
            </a:extLst>
          </p:cNvPr>
          <p:cNvSpPr>
            <a:spLocks noGrp="1"/>
          </p:cNvSpPr>
          <p:nvPr>
            <p:ph type="title"/>
          </p:nvPr>
        </p:nvSpPr>
        <p:spPr/>
        <p:txBody>
          <a:bodyPr anchor="b">
            <a:normAutofit/>
          </a:bodyPr>
          <a:lstStyle/>
          <a:p>
            <a:r>
              <a:rPr lang="en-US" dirty="0"/>
              <a:t>Self-Awareness</a:t>
            </a:r>
          </a:p>
        </p:txBody>
      </p:sp>
      <p:sp>
        <p:nvSpPr>
          <p:cNvPr id="3" name="Footer Placeholder 2">
            <a:extLst>
              <a:ext uri="{FF2B5EF4-FFF2-40B4-BE49-F238E27FC236}">
                <a16:creationId xmlns:a16="http://schemas.microsoft.com/office/drawing/2014/main" id="{8F861321-77DE-D8B3-2CE1-5E80D84F73B1}"/>
              </a:ext>
            </a:extLst>
          </p:cNvPr>
          <p:cNvSpPr>
            <a:spLocks noGrp="1"/>
          </p:cNvSpPr>
          <p:nvPr>
            <p:ph type="ftr" sz="quarter" idx="11"/>
          </p:nvPr>
        </p:nvSpPr>
        <p:spPr/>
        <p:txBody>
          <a:bodyPr/>
          <a:lstStyle/>
          <a:p>
            <a:r>
              <a:rPr lang="en-US"/>
              <a:t>A CATHOLIC INTRODUCTION TO ARTIFICIAL INTELLIGENCE</a:t>
            </a:r>
          </a:p>
        </p:txBody>
      </p:sp>
      <p:sp>
        <p:nvSpPr>
          <p:cNvPr id="4" name="Slide Number Placeholder 3">
            <a:extLst>
              <a:ext uri="{FF2B5EF4-FFF2-40B4-BE49-F238E27FC236}">
                <a16:creationId xmlns:a16="http://schemas.microsoft.com/office/drawing/2014/main" id="{DC66AC33-0E37-A1FB-D179-CA7D1DA0B66D}"/>
              </a:ext>
            </a:extLst>
          </p:cNvPr>
          <p:cNvSpPr>
            <a:spLocks noGrp="1"/>
          </p:cNvSpPr>
          <p:nvPr>
            <p:ph type="sldNum" sz="quarter" idx="12"/>
          </p:nvPr>
        </p:nvSpPr>
        <p:spPr/>
        <p:txBody>
          <a:bodyPr/>
          <a:lstStyle/>
          <a:p>
            <a:fld id="{E31375A4-56A4-47D6-9801-1991572033F7}" type="slidenum">
              <a:rPr lang="en-US" smtClean="0"/>
              <a:t>8</a:t>
            </a:fld>
            <a:endParaRPr lang="en-US"/>
          </a:p>
        </p:txBody>
      </p:sp>
      <p:pic>
        <p:nvPicPr>
          <p:cNvPr id="1026" name="Picture 2" descr="Entering the Cell of Self-Knowledge; Why Self-Awareness Isn't Enough">
            <a:extLst>
              <a:ext uri="{FF2B5EF4-FFF2-40B4-BE49-F238E27FC236}">
                <a16:creationId xmlns:a16="http://schemas.microsoft.com/office/drawing/2014/main" id="{730C5466-7D5A-DBFE-E6F7-5645982EA8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86400" y="112976"/>
            <a:ext cx="4159688" cy="4488107"/>
          </a:xfrm>
          <a:prstGeom prst="rect">
            <a:avLst/>
          </a:prstGeom>
          <a:solidFill>
            <a:srgbClr val="FFFFFF"/>
          </a:solidFill>
        </p:spPr>
      </p:pic>
      <p:sp>
        <p:nvSpPr>
          <p:cNvPr id="5" name="TextBox 4">
            <a:extLst>
              <a:ext uri="{FF2B5EF4-FFF2-40B4-BE49-F238E27FC236}">
                <a16:creationId xmlns:a16="http://schemas.microsoft.com/office/drawing/2014/main" id="{B59C997E-5E5D-24E2-57F1-4AC262CD800E}"/>
              </a:ext>
            </a:extLst>
          </p:cNvPr>
          <p:cNvSpPr txBox="1"/>
          <p:nvPr/>
        </p:nvSpPr>
        <p:spPr>
          <a:xfrm>
            <a:off x="2836164" y="4793215"/>
            <a:ext cx="6096000" cy="175432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b="0" i="0" dirty="0">
                <a:solidFill>
                  <a:srgbClr val="ECECEC"/>
                </a:solidFill>
                <a:effectLst/>
                <a:latin typeface="-apple-system"/>
              </a:rPr>
              <a:t>Self-awareness refers to the ability to have a clear and accurate understanding of your thoughts, feelings, values, strengths, weaknesses, motivations, and behaviors. It involves being able to observe yourself from outside, recognizing your patterns, habits, and emotions, and making conscious choices about how you want to present yourself to the world.</a:t>
            </a:r>
            <a:endParaRPr lang="en-US" dirty="0"/>
          </a:p>
        </p:txBody>
      </p:sp>
      <p:pic>
        <p:nvPicPr>
          <p:cNvPr id="6" name="Picture 5">
            <a:extLst>
              <a:ext uri="{FF2B5EF4-FFF2-40B4-BE49-F238E27FC236}">
                <a16:creationId xmlns:a16="http://schemas.microsoft.com/office/drawing/2014/main" id="{175896F4-92A7-6CEB-3EBB-FDA38A146E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7" name="Picture 6">
            <a:extLst>
              <a:ext uri="{FF2B5EF4-FFF2-40B4-BE49-F238E27FC236}">
                <a16:creationId xmlns:a16="http://schemas.microsoft.com/office/drawing/2014/main" id="{436D1204-B388-5F52-4AE8-11933B8E2C54}"/>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68509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2DDF1-61EB-5C97-1F02-EB06C6ED8834}"/>
              </a:ext>
            </a:extLst>
          </p:cNvPr>
          <p:cNvSpPr>
            <a:spLocks noGrp="1"/>
          </p:cNvSpPr>
          <p:nvPr>
            <p:ph type="title"/>
          </p:nvPr>
        </p:nvSpPr>
        <p:spPr/>
        <p:txBody>
          <a:bodyPr/>
          <a:lstStyle/>
          <a:p>
            <a:r>
              <a:rPr lang="en-US" dirty="0"/>
              <a:t>Where Is AI Being Used Today?</a:t>
            </a:r>
          </a:p>
        </p:txBody>
      </p:sp>
      <p:sp>
        <p:nvSpPr>
          <p:cNvPr id="3" name="Content Placeholder 2">
            <a:extLst>
              <a:ext uri="{FF2B5EF4-FFF2-40B4-BE49-F238E27FC236}">
                <a16:creationId xmlns:a16="http://schemas.microsoft.com/office/drawing/2014/main" id="{5E5CF5BA-69DB-CDE2-DA4F-6A732F500D03}"/>
              </a:ext>
            </a:extLst>
          </p:cNvPr>
          <p:cNvSpPr>
            <a:spLocks noGrp="1"/>
          </p:cNvSpPr>
          <p:nvPr>
            <p:ph idx="1"/>
          </p:nvPr>
        </p:nvSpPr>
        <p:spPr/>
        <p:txBody>
          <a:bodyPr/>
          <a:lstStyle/>
          <a:p>
            <a:pPr marL="0" indent="0">
              <a:buNone/>
            </a:pPr>
            <a:endParaRPr lang="en-US" dirty="0"/>
          </a:p>
        </p:txBody>
      </p:sp>
      <p:sp>
        <p:nvSpPr>
          <p:cNvPr id="4" name="Footer Placeholder 3">
            <a:extLst>
              <a:ext uri="{FF2B5EF4-FFF2-40B4-BE49-F238E27FC236}">
                <a16:creationId xmlns:a16="http://schemas.microsoft.com/office/drawing/2014/main" id="{84B86D54-A575-8227-398D-1DB0DDF620A8}"/>
              </a:ext>
            </a:extLst>
          </p:cNvPr>
          <p:cNvSpPr>
            <a:spLocks noGrp="1"/>
          </p:cNvSpPr>
          <p:nvPr>
            <p:ph type="ftr" sz="quarter" idx="11"/>
          </p:nvPr>
        </p:nvSpPr>
        <p:spPr/>
        <p:txBody>
          <a:bodyPr/>
          <a:lstStyle/>
          <a:p>
            <a:r>
              <a:rPr lang="en-US"/>
              <a:t>A CATHOLIC INTRODUCTION TO ARTIFICIAL INTELLIGENCE</a:t>
            </a:r>
          </a:p>
        </p:txBody>
      </p:sp>
      <p:sp>
        <p:nvSpPr>
          <p:cNvPr id="5" name="Slide Number Placeholder 4">
            <a:extLst>
              <a:ext uri="{FF2B5EF4-FFF2-40B4-BE49-F238E27FC236}">
                <a16:creationId xmlns:a16="http://schemas.microsoft.com/office/drawing/2014/main" id="{BB4C2F49-1C02-E742-B8E0-4E2696668AC0}"/>
              </a:ext>
            </a:extLst>
          </p:cNvPr>
          <p:cNvSpPr>
            <a:spLocks noGrp="1"/>
          </p:cNvSpPr>
          <p:nvPr>
            <p:ph type="sldNum" sz="quarter" idx="12"/>
          </p:nvPr>
        </p:nvSpPr>
        <p:spPr/>
        <p:txBody>
          <a:bodyPr/>
          <a:lstStyle/>
          <a:p>
            <a:fld id="{E31375A4-56A4-47D6-9801-1991572033F7}" type="slidenum">
              <a:rPr lang="en-US" smtClean="0"/>
              <a:t>9</a:t>
            </a:fld>
            <a:endParaRPr lang="en-US"/>
          </a:p>
        </p:txBody>
      </p:sp>
      <p:sp>
        <p:nvSpPr>
          <p:cNvPr id="7" name="TextBox 6">
            <a:extLst>
              <a:ext uri="{FF2B5EF4-FFF2-40B4-BE49-F238E27FC236}">
                <a16:creationId xmlns:a16="http://schemas.microsoft.com/office/drawing/2014/main" id="{1537D3D1-674B-EDA5-457F-5C1C0BB7C804}"/>
              </a:ext>
            </a:extLst>
          </p:cNvPr>
          <p:cNvSpPr txBox="1"/>
          <p:nvPr/>
        </p:nvSpPr>
        <p:spPr>
          <a:xfrm>
            <a:off x="5791200" y="6324600"/>
            <a:ext cx="6096000" cy="369332"/>
          </a:xfrm>
          <a:prstGeom prst="rect">
            <a:avLst/>
          </a:prstGeom>
          <a:noFill/>
        </p:spPr>
        <p:txBody>
          <a:bodyPr wrap="square">
            <a:spAutoFit/>
          </a:bodyPr>
          <a:lstStyle/>
          <a:p>
            <a:r>
              <a:rPr lang="en-US" dirty="0"/>
              <a:t>https://www.youtube.com/watch?v=4ocBFGtukow</a:t>
            </a:r>
          </a:p>
        </p:txBody>
      </p:sp>
      <p:pic>
        <p:nvPicPr>
          <p:cNvPr id="6" name="Picture 5">
            <a:extLst>
              <a:ext uri="{FF2B5EF4-FFF2-40B4-BE49-F238E27FC236}">
                <a16:creationId xmlns:a16="http://schemas.microsoft.com/office/drawing/2014/main" id="{6CC358F6-45DF-C12B-061F-1FB5F92CCD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9" name="Picture 8">
            <a:extLst>
              <a:ext uri="{FF2B5EF4-FFF2-40B4-BE49-F238E27FC236}">
                <a16:creationId xmlns:a16="http://schemas.microsoft.com/office/drawing/2014/main" id="{3FD347EC-74DA-BF0B-BDF4-BBBA5CF22044}"/>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1025621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F6686-A0C8-A04A-5149-0DE42D8A3447}"/>
              </a:ext>
            </a:extLst>
          </p:cNvPr>
          <p:cNvSpPr>
            <a:spLocks noGrp="1"/>
          </p:cNvSpPr>
          <p:nvPr>
            <p:ph type="title"/>
          </p:nvPr>
        </p:nvSpPr>
        <p:spPr/>
        <p:txBody>
          <a:bodyPr/>
          <a:lstStyle/>
          <a:p>
            <a:r>
              <a:rPr lang="en-US" dirty="0"/>
              <a:t>It’s Been Around a Long Time</a:t>
            </a:r>
          </a:p>
        </p:txBody>
      </p:sp>
      <p:sp>
        <p:nvSpPr>
          <p:cNvPr id="3" name="Content Placeholder 2">
            <a:extLst>
              <a:ext uri="{FF2B5EF4-FFF2-40B4-BE49-F238E27FC236}">
                <a16:creationId xmlns:a16="http://schemas.microsoft.com/office/drawing/2014/main" id="{1B9AB412-C898-CBE5-9BE1-E2D1A98A55C2}"/>
              </a:ext>
            </a:extLst>
          </p:cNvPr>
          <p:cNvSpPr>
            <a:spLocks noGrp="1"/>
          </p:cNvSpPr>
          <p:nvPr>
            <p:ph idx="1"/>
          </p:nvPr>
        </p:nvSpPr>
        <p:spPr>
          <a:xfrm>
            <a:off x="1524000" y="2057400"/>
            <a:ext cx="9144000" cy="4267200"/>
          </a:xfrm>
        </p:spPr>
        <p:txBody>
          <a:bodyPr>
            <a:normAutofit/>
          </a:bodyPr>
          <a:lstStyle/>
          <a:p>
            <a:r>
              <a:rPr lang="en-US" sz="2400" dirty="0"/>
              <a:t>Netflix recommendations</a:t>
            </a:r>
          </a:p>
          <a:p>
            <a:r>
              <a:rPr lang="en-US" sz="2400" dirty="0"/>
              <a:t>Keyboard assistance</a:t>
            </a:r>
          </a:p>
          <a:p>
            <a:r>
              <a:rPr lang="en-US" sz="2400" dirty="0"/>
              <a:t>Grammar checkers</a:t>
            </a:r>
          </a:p>
          <a:p>
            <a:r>
              <a:rPr lang="en-US" sz="2400" dirty="0"/>
              <a:t>Face recognition</a:t>
            </a:r>
          </a:p>
          <a:p>
            <a:r>
              <a:rPr lang="en-US" sz="2400" dirty="0"/>
              <a:t>Voice recognition</a:t>
            </a:r>
          </a:p>
          <a:p>
            <a:r>
              <a:rPr lang="en-US" sz="2400" dirty="0"/>
              <a:t>Chat bots</a:t>
            </a:r>
          </a:p>
          <a:p>
            <a:r>
              <a:rPr lang="en-US" sz="2400" dirty="0"/>
              <a:t>GPS/Traffic/Maps</a:t>
            </a:r>
          </a:p>
          <a:p>
            <a:r>
              <a:rPr lang="en-US" sz="2400" dirty="0"/>
              <a:t>Email spam filters</a:t>
            </a:r>
          </a:p>
        </p:txBody>
      </p:sp>
      <p:sp>
        <p:nvSpPr>
          <p:cNvPr id="6" name="Footer Placeholder 5">
            <a:extLst>
              <a:ext uri="{FF2B5EF4-FFF2-40B4-BE49-F238E27FC236}">
                <a16:creationId xmlns:a16="http://schemas.microsoft.com/office/drawing/2014/main" id="{93870081-AD3D-2C07-88CB-DAA85D188848}"/>
              </a:ext>
            </a:extLst>
          </p:cNvPr>
          <p:cNvSpPr>
            <a:spLocks noGrp="1"/>
          </p:cNvSpPr>
          <p:nvPr>
            <p:ph type="ftr" sz="quarter" idx="11"/>
          </p:nvPr>
        </p:nvSpPr>
        <p:spPr/>
        <p:txBody>
          <a:bodyPr/>
          <a:lstStyle/>
          <a:p>
            <a:r>
              <a:rPr lang="en-US"/>
              <a:t>A CATHOLIC INTRODUCTION TO ARTIFICIAL INTELLIGENCE</a:t>
            </a:r>
          </a:p>
        </p:txBody>
      </p:sp>
      <p:sp>
        <p:nvSpPr>
          <p:cNvPr id="7" name="Slide Number Placeholder 6">
            <a:extLst>
              <a:ext uri="{FF2B5EF4-FFF2-40B4-BE49-F238E27FC236}">
                <a16:creationId xmlns:a16="http://schemas.microsoft.com/office/drawing/2014/main" id="{432ECE8A-EAF6-0BD9-4431-3B842E9D142B}"/>
              </a:ext>
            </a:extLst>
          </p:cNvPr>
          <p:cNvSpPr>
            <a:spLocks noGrp="1"/>
          </p:cNvSpPr>
          <p:nvPr>
            <p:ph type="sldNum" sz="quarter" idx="12"/>
          </p:nvPr>
        </p:nvSpPr>
        <p:spPr/>
        <p:txBody>
          <a:bodyPr/>
          <a:lstStyle/>
          <a:p>
            <a:fld id="{E31375A4-56A4-47D6-9801-1991572033F7}" type="slidenum">
              <a:rPr lang="en-US" smtClean="0"/>
              <a:t>10</a:t>
            </a:fld>
            <a:endParaRPr lang="en-US"/>
          </a:p>
        </p:txBody>
      </p:sp>
      <p:sp>
        <p:nvSpPr>
          <p:cNvPr id="4" name="TextBox 3">
            <a:extLst>
              <a:ext uri="{FF2B5EF4-FFF2-40B4-BE49-F238E27FC236}">
                <a16:creationId xmlns:a16="http://schemas.microsoft.com/office/drawing/2014/main" id="{0BC010F7-37F1-4A61-1E09-B988A8B94FF5}"/>
              </a:ext>
            </a:extLst>
          </p:cNvPr>
          <p:cNvSpPr txBox="1"/>
          <p:nvPr/>
        </p:nvSpPr>
        <p:spPr>
          <a:xfrm>
            <a:off x="6096000" y="2590800"/>
            <a:ext cx="3733800" cy="1323439"/>
          </a:xfrm>
          <a:prstGeom prst="rect">
            <a:avLst/>
          </a:prstGeom>
          <a:pattFill prst="pct5">
            <a:fgClr>
              <a:schemeClr val="accent1"/>
            </a:fgClr>
            <a:bgClr>
              <a:schemeClr val="bg1"/>
            </a:bgClr>
          </a:pattFill>
          <a:ln/>
        </p:spPr>
        <p:style>
          <a:lnRef idx="0">
            <a:schemeClr val="accent3"/>
          </a:lnRef>
          <a:fillRef idx="3">
            <a:schemeClr val="accent3"/>
          </a:fillRef>
          <a:effectRef idx="3">
            <a:schemeClr val="accent3"/>
          </a:effectRef>
          <a:fontRef idx="minor">
            <a:schemeClr val="lt1"/>
          </a:fontRef>
        </p:style>
        <p:txBody>
          <a:bodyPr wrap="square" rtlCol="0">
            <a:spAutoFit/>
          </a:bodyPr>
          <a:lstStyle/>
          <a:p>
            <a:pPr algn="ctr"/>
            <a:r>
              <a:rPr lang="en-US" sz="4000" dirty="0">
                <a:solidFill>
                  <a:schemeClr val="accent2"/>
                </a:solidFill>
              </a:rPr>
              <a:t>Machine Learning</a:t>
            </a:r>
          </a:p>
        </p:txBody>
      </p:sp>
      <p:sp>
        <p:nvSpPr>
          <p:cNvPr id="5" name="TextBox 4">
            <a:extLst>
              <a:ext uri="{FF2B5EF4-FFF2-40B4-BE49-F238E27FC236}">
                <a16:creationId xmlns:a16="http://schemas.microsoft.com/office/drawing/2014/main" id="{8B28FBAA-1C4D-C9F6-3CB3-17FB10340F57}"/>
              </a:ext>
            </a:extLst>
          </p:cNvPr>
          <p:cNvSpPr txBox="1"/>
          <p:nvPr/>
        </p:nvSpPr>
        <p:spPr>
          <a:xfrm>
            <a:off x="6096000" y="4689386"/>
            <a:ext cx="3733800" cy="707886"/>
          </a:xfrm>
          <a:prstGeom prst="rect">
            <a:avLst/>
          </a:prstGeom>
          <a:pattFill prst="pct5">
            <a:fgClr>
              <a:schemeClr val="accent1"/>
            </a:fgClr>
            <a:bgClr>
              <a:schemeClr val="bg1"/>
            </a:bgClr>
          </a:pattFill>
          <a:ln/>
        </p:spPr>
        <p:style>
          <a:lnRef idx="0">
            <a:schemeClr val="accent3"/>
          </a:lnRef>
          <a:fillRef idx="3">
            <a:schemeClr val="accent3"/>
          </a:fillRef>
          <a:effectRef idx="3">
            <a:schemeClr val="accent3"/>
          </a:effectRef>
          <a:fontRef idx="minor">
            <a:schemeClr val="lt1"/>
          </a:fontRef>
        </p:style>
        <p:txBody>
          <a:bodyPr wrap="square" rtlCol="0">
            <a:spAutoFit/>
          </a:bodyPr>
          <a:lstStyle>
            <a:defPPr>
              <a:defRPr lang="en-US"/>
            </a:defPPr>
            <a:lvl1pPr algn="ctr">
              <a:defRPr sz="4000"/>
            </a:lvl1pPr>
          </a:lstStyle>
          <a:p>
            <a:r>
              <a:rPr lang="en-US" dirty="0">
                <a:solidFill>
                  <a:schemeClr val="accent2"/>
                </a:solidFill>
              </a:rPr>
              <a:t>Transformers</a:t>
            </a:r>
          </a:p>
        </p:txBody>
      </p:sp>
      <p:pic>
        <p:nvPicPr>
          <p:cNvPr id="9" name="Picture 8">
            <a:extLst>
              <a:ext uri="{FF2B5EF4-FFF2-40B4-BE49-F238E27FC236}">
                <a16:creationId xmlns:a16="http://schemas.microsoft.com/office/drawing/2014/main" id="{89E5883A-159C-6092-CD88-BD03F73409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0" name="Picture 9">
            <a:extLst>
              <a:ext uri="{FF2B5EF4-FFF2-40B4-BE49-F238E27FC236}">
                <a16:creationId xmlns:a16="http://schemas.microsoft.com/office/drawing/2014/main" id="{D2357567-8A04-DB93-095F-7531B11CEFAC}"/>
              </a:ext>
            </a:extLst>
          </p:cNvPr>
          <p:cNvPicPr>
            <a:picLocks noChangeAspect="1"/>
          </p:cNvPicPr>
          <p:nvPr/>
        </p:nvPicPr>
        <p:blipFill>
          <a:blip r:embed="rId3"/>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76898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randombar(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422D2EE-C3EF-B3B1-EBCD-DD92BEB9B5DD}"/>
              </a:ext>
            </a:extLst>
          </p:cNvPr>
          <p:cNvGrpSpPr/>
          <p:nvPr/>
        </p:nvGrpSpPr>
        <p:grpSpPr>
          <a:xfrm>
            <a:off x="5575800" y="2973825"/>
            <a:ext cx="5092200" cy="910350"/>
            <a:chOff x="5864371" y="42650"/>
            <a:chExt cx="2145825" cy="910350"/>
          </a:xfrm>
        </p:grpSpPr>
        <p:sp>
          <p:nvSpPr>
            <p:cNvPr id="6" name="Rectangle 5">
              <a:extLst>
                <a:ext uri="{FF2B5EF4-FFF2-40B4-BE49-F238E27FC236}">
                  <a16:creationId xmlns:a16="http://schemas.microsoft.com/office/drawing/2014/main" id="{2FD219E9-4E40-A357-787A-A7231972F83D}"/>
                </a:ext>
              </a:extLst>
            </p:cNvPr>
            <p:cNvSpPr/>
            <p:nvPr/>
          </p:nvSpPr>
          <p:spPr>
            <a:xfrm>
              <a:off x="5864371" y="42650"/>
              <a:ext cx="2145825" cy="91035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sz="4000"/>
            </a:p>
          </p:txBody>
        </p:sp>
        <p:sp>
          <p:nvSpPr>
            <p:cNvPr id="7" name="TextBox 6">
              <a:extLst>
                <a:ext uri="{FF2B5EF4-FFF2-40B4-BE49-F238E27FC236}">
                  <a16:creationId xmlns:a16="http://schemas.microsoft.com/office/drawing/2014/main" id="{16161550-A98C-8108-0968-9EDB57DFE349}"/>
                </a:ext>
              </a:extLst>
            </p:cNvPr>
            <p:cNvSpPr txBox="1"/>
            <p:nvPr/>
          </p:nvSpPr>
          <p:spPr>
            <a:xfrm>
              <a:off x="5864371" y="42650"/>
              <a:ext cx="2145825" cy="91035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844550">
                <a:lnSpc>
                  <a:spcPct val="100000"/>
                </a:lnSpc>
                <a:spcBef>
                  <a:spcPct val="0"/>
                </a:spcBef>
                <a:spcAft>
                  <a:spcPct val="35000"/>
                </a:spcAft>
                <a:buNone/>
              </a:pPr>
              <a:r>
                <a:rPr lang="en-US" sz="4000" kern="1200" dirty="0"/>
                <a:t>Closing Prayer</a:t>
              </a:r>
            </a:p>
          </p:txBody>
        </p:sp>
      </p:grpSp>
      <p:sp>
        <p:nvSpPr>
          <p:cNvPr id="4" name="Oval 3">
            <a:extLst>
              <a:ext uri="{FF2B5EF4-FFF2-40B4-BE49-F238E27FC236}">
                <a16:creationId xmlns:a16="http://schemas.microsoft.com/office/drawing/2014/main" id="{2940A91A-B685-116C-F915-FFA8F101FD39}"/>
              </a:ext>
            </a:extLst>
          </p:cNvPr>
          <p:cNvSpPr/>
          <p:nvPr/>
        </p:nvSpPr>
        <p:spPr>
          <a:xfrm>
            <a:off x="1981200" y="1866900"/>
            <a:ext cx="3247125" cy="3124200"/>
          </a:xfrm>
          <a:prstGeom prst="ellipse">
            <a:avLst/>
          </a:prstGeom>
        </p:spPr>
        <p:style>
          <a:lnRef idx="0">
            <a:schemeClr val="accent3">
              <a:hueOff val="0"/>
              <a:satOff val="0"/>
              <a:lumOff val="0"/>
              <a:alphaOff val="0"/>
            </a:schemeClr>
          </a:lnRef>
          <a:fillRef idx="1">
            <a:schemeClr val="accent3">
              <a:tint val="40000"/>
              <a:hueOff val="0"/>
              <a:satOff val="0"/>
              <a:lumOff val="0"/>
              <a:alphaOff val="0"/>
            </a:schemeClr>
          </a:fillRef>
          <a:effectRef idx="0">
            <a:schemeClr val="accent3">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 name="Rectangle 1">
            <a:extLst>
              <a:ext uri="{FF2B5EF4-FFF2-40B4-BE49-F238E27FC236}">
                <a16:creationId xmlns:a16="http://schemas.microsoft.com/office/drawing/2014/main" id="{533A56DE-76ED-48DF-C4B0-2438C49FC014}"/>
              </a:ext>
            </a:extLst>
          </p:cNvPr>
          <p:cNvSpPr/>
          <p:nvPr/>
        </p:nvSpPr>
        <p:spPr>
          <a:xfrm>
            <a:off x="2895600" y="2764611"/>
            <a:ext cx="1447800" cy="1328777"/>
          </a:xfrm>
          <a:prstGeom prst="rect">
            <a:avLst/>
          </a:prstGeom>
          <a:blipFill>
            <a:blip r:embed="rId2" cstate="print">
              <a:extLst>
                <a:ext uri="{28A0092B-C50C-407E-A947-70E740481C1C}">
                  <a14:useLocalDpi xmlns:a14="http://schemas.microsoft.com/office/drawing/2010/main" val="0"/>
                </a:ext>
              </a:extLst>
            </a:blip>
            <a:srcRect/>
            <a:stretch>
              <a:fillRect l="-61000" r="-61000"/>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3" name="Footer Placeholder 2">
            <a:extLst>
              <a:ext uri="{FF2B5EF4-FFF2-40B4-BE49-F238E27FC236}">
                <a16:creationId xmlns:a16="http://schemas.microsoft.com/office/drawing/2014/main" id="{9F55F341-005F-3B42-D3A3-0D90EE9D3B6C}"/>
              </a:ext>
            </a:extLst>
          </p:cNvPr>
          <p:cNvSpPr>
            <a:spLocks noGrp="1"/>
          </p:cNvSpPr>
          <p:nvPr>
            <p:ph type="ftr" sz="quarter" idx="11"/>
          </p:nvPr>
        </p:nvSpPr>
        <p:spPr/>
        <p:txBody>
          <a:bodyPr/>
          <a:lstStyle/>
          <a:p>
            <a:r>
              <a:rPr lang="en-US"/>
              <a:t>A CATHOLIC INTRODUCTION TO ARTIFICIAL INTELLIGENCE</a:t>
            </a:r>
          </a:p>
        </p:txBody>
      </p:sp>
      <p:sp>
        <p:nvSpPr>
          <p:cNvPr id="8" name="Slide Number Placeholder 7">
            <a:extLst>
              <a:ext uri="{FF2B5EF4-FFF2-40B4-BE49-F238E27FC236}">
                <a16:creationId xmlns:a16="http://schemas.microsoft.com/office/drawing/2014/main" id="{8E346858-A0E7-9A9B-4DE2-C161A3603C8A}"/>
              </a:ext>
            </a:extLst>
          </p:cNvPr>
          <p:cNvSpPr>
            <a:spLocks noGrp="1"/>
          </p:cNvSpPr>
          <p:nvPr>
            <p:ph type="sldNum" sz="quarter" idx="12"/>
          </p:nvPr>
        </p:nvSpPr>
        <p:spPr/>
        <p:txBody>
          <a:bodyPr/>
          <a:lstStyle/>
          <a:p>
            <a:fld id="{E31375A4-56A4-47D6-9801-1991572033F7}" type="slidenum">
              <a:rPr lang="en-US" smtClean="0"/>
              <a:t>11</a:t>
            </a:fld>
            <a:endParaRPr lang="en-US"/>
          </a:p>
        </p:txBody>
      </p:sp>
      <p:pic>
        <p:nvPicPr>
          <p:cNvPr id="9" name="Picture 8">
            <a:extLst>
              <a:ext uri="{FF2B5EF4-FFF2-40B4-BE49-F238E27FC236}">
                <a16:creationId xmlns:a16="http://schemas.microsoft.com/office/drawing/2014/main" id="{94E1CBF5-09BE-87E1-279B-4797C346E3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10" name="Picture 9">
            <a:extLst>
              <a:ext uri="{FF2B5EF4-FFF2-40B4-BE49-F238E27FC236}">
                <a16:creationId xmlns:a16="http://schemas.microsoft.com/office/drawing/2014/main" id="{F79C13BB-7381-9A08-A0EC-58AB893B46CC}"/>
              </a:ext>
            </a:extLst>
          </p:cNvPr>
          <p:cNvPicPr>
            <a:picLocks noChangeAspect="1"/>
          </p:cNvPicPr>
          <p:nvPr/>
        </p:nvPicPr>
        <p:blipFill>
          <a:blip r:embed="rId4"/>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2561612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A6FB1DC-D049-40B4-B52A-DAE1260F359E}"/>
              </a:ext>
            </a:extLst>
          </p:cNvPr>
          <p:cNvSpPr>
            <a:spLocks noGrp="1" noChangeArrowheads="1"/>
          </p:cNvSpPr>
          <p:nvPr>
            <p:ph type="title"/>
          </p:nvPr>
        </p:nvSpPr>
        <p:spPr>
          <a:xfrm>
            <a:off x="1143000" y="634960"/>
            <a:ext cx="5766816" cy="1293028"/>
          </a:xfrm>
          <a:prstGeom prst="rect">
            <a:avLst/>
          </a:prstGeom>
        </p:spPr>
        <p:txBody>
          <a:bodyPr vert="horz" lIns="91440" tIns="45720" rIns="91440" bIns="45720" rtlCol="0" anchor="ctr">
            <a:normAutofit fontScale="90000"/>
          </a:bodyPr>
          <a:lstStyle/>
          <a:p>
            <a:r>
              <a:rPr lang="en-US" altLang="en-US" dirty="0"/>
              <a:t>Prayer to </a:t>
            </a:r>
            <a:br>
              <a:rPr lang="en-US" altLang="en-US" dirty="0"/>
            </a:br>
            <a:r>
              <a:rPr lang="en-US" altLang="en-US" dirty="0"/>
              <a:t>St. Michael Archangel</a:t>
            </a:r>
          </a:p>
        </p:txBody>
      </p:sp>
      <p:graphicFrame>
        <p:nvGraphicFramePr>
          <p:cNvPr id="18438" name="Content Placeholder 2">
            <a:extLst>
              <a:ext uri="{FF2B5EF4-FFF2-40B4-BE49-F238E27FC236}">
                <a16:creationId xmlns:a16="http://schemas.microsoft.com/office/drawing/2014/main" id="{3F931D0B-D539-4FD1-9207-AED55222636C}"/>
              </a:ext>
            </a:extLst>
          </p:cNvPr>
          <p:cNvGraphicFramePr>
            <a:graphicFrameLocks noGrp="1"/>
          </p:cNvGraphicFramePr>
          <p:nvPr>
            <p:ph sz="half" idx="1"/>
            <p:extLst>
              <p:ext uri="{D42A27DB-BD31-4B8C-83A1-F6EECF244321}">
                <p14:modId xmlns:p14="http://schemas.microsoft.com/office/powerpoint/2010/main" val="1636504575"/>
              </p:ext>
            </p:extLst>
          </p:nvPr>
        </p:nvGraphicFramePr>
        <p:xfrm>
          <a:off x="457200" y="2198915"/>
          <a:ext cx="6771640" cy="4024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a:extLst>
              <a:ext uri="{FF2B5EF4-FFF2-40B4-BE49-F238E27FC236}">
                <a16:creationId xmlns:a16="http://schemas.microsoft.com/office/drawing/2014/main" id="{BD24E8F3-E58A-92F9-2AE5-8261E572B18F}"/>
              </a:ext>
            </a:extLst>
          </p:cNvPr>
          <p:cNvSpPr>
            <a:spLocks noGrp="1"/>
          </p:cNvSpPr>
          <p:nvPr>
            <p:ph type="ftr" sz="quarter" idx="11"/>
          </p:nvPr>
        </p:nvSpPr>
        <p:spPr/>
        <p:txBody>
          <a:bodyPr/>
          <a:lstStyle/>
          <a:p>
            <a:r>
              <a:rPr lang="en-US"/>
              <a:t>A CATHOLIC INTRODUCTION TO ARTIFICIAL INTELLIGENCE</a:t>
            </a:r>
          </a:p>
        </p:txBody>
      </p:sp>
      <p:sp>
        <p:nvSpPr>
          <p:cNvPr id="3" name="Slide Number Placeholder 2">
            <a:extLst>
              <a:ext uri="{FF2B5EF4-FFF2-40B4-BE49-F238E27FC236}">
                <a16:creationId xmlns:a16="http://schemas.microsoft.com/office/drawing/2014/main" id="{E4224648-9E25-44B3-0301-88D23B051901}"/>
              </a:ext>
            </a:extLst>
          </p:cNvPr>
          <p:cNvSpPr>
            <a:spLocks noGrp="1"/>
          </p:cNvSpPr>
          <p:nvPr>
            <p:ph type="sldNum" sz="quarter" idx="12"/>
          </p:nvPr>
        </p:nvSpPr>
        <p:spPr/>
        <p:txBody>
          <a:bodyPr/>
          <a:lstStyle/>
          <a:p>
            <a:fld id="{E31375A4-56A4-47D6-9801-1991572033F7}" type="slidenum">
              <a:rPr lang="en-US" smtClean="0"/>
              <a:t>12</a:t>
            </a:fld>
            <a:endParaRPr lang="en-US"/>
          </a:p>
        </p:txBody>
      </p:sp>
      <p:pic>
        <p:nvPicPr>
          <p:cNvPr id="18436" name="Picture 2" descr="https://www.ewtn.com/art/saints/angels/stmichael.jpg">
            <a:extLst>
              <a:ext uri="{FF2B5EF4-FFF2-40B4-BE49-F238E27FC236}">
                <a16:creationId xmlns:a16="http://schemas.microsoft.com/office/drawing/2014/main" id="{1A4F67E9-12EB-4FA0-A2A1-81B7E81A0C7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7490" r="-1" b="4353"/>
          <a:stretch/>
        </p:blipFill>
        <p:spPr bwMode="auto">
          <a:xfrm>
            <a:off x="7519416" y="10"/>
            <a:ext cx="4672584" cy="6857989"/>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5068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9E94B-A915-609D-E425-B1D348321154}"/>
              </a:ext>
            </a:extLst>
          </p:cNvPr>
          <p:cNvSpPr>
            <a:spLocks noGrp="1"/>
          </p:cNvSpPr>
          <p:nvPr>
            <p:ph type="title"/>
          </p:nvPr>
        </p:nvSpPr>
        <p:spPr>
          <a:xfrm>
            <a:off x="1524000" y="533400"/>
            <a:ext cx="9144000" cy="1143000"/>
          </a:xfrm>
        </p:spPr>
        <p:txBody>
          <a:bodyPr/>
          <a:lstStyle/>
          <a:p>
            <a:r>
              <a:rPr lang="en-US" dirty="0"/>
              <a:t>“AI” In Hollywood</a:t>
            </a:r>
          </a:p>
        </p:txBody>
      </p:sp>
      <p:sp>
        <p:nvSpPr>
          <p:cNvPr id="3" name="Content Placeholder 2">
            <a:extLst>
              <a:ext uri="{FF2B5EF4-FFF2-40B4-BE49-F238E27FC236}">
                <a16:creationId xmlns:a16="http://schemas.microsoft.com/office/drawing/2014/main" id="{AEDF904C-9245-0DC2-1593-D34A47FE3844}"/>
              </a:ext>
            </a:extLst>
          </p:cNvPr>
          <p:cNvSpPr>
            <a:spLocks noGrp="1"/>
          </p:cNvSpPr>
          <p:nvPr>
            <p:ph idx="1"/>
          </p:nvPr>
        </p:nvSpPr>
        <p:spPr>
          <a:xfrm>
            <a:off x="1524000" y="1905000"/>
            <a:ext cx="9144000" cy="4267200"/>
          </a:xfrm>
        </p:spPr>
        <p:txBody>
          <a:bodyPr>
            <a:normAutofit/>
          </a:bodyPr>
          <a:lstStyle/>
          <a:p>
            <a:r>
              <a:rPr lang="en-US" dirty="0"/>
              <a:t>War Games </a:t>
            </a:r>
          </a:p>
          <a:p>
            <a:pPr lvl="1"/>
            <a:r>
              <a:rPr lang="en-US" dirty="0">
                <a:hlinkClick r:id="rId2"/>
              </a:rPr>
              <a:t>https://www.youtube.com/watch?v=s93KC4AGKnY</a:t>
            </a:r>
            <a:r>
              <a:rPr lang="en-US" dirty="0"/>
              <a:t> (1:34)</a:t>
            </a:r>
          </a:p>
          <a:p>
            <a:r>
              <a:rPr lang="en-US" dirty="0"/>
              <a:t>The Terminator</a:t>
            </a:r>
          </a:p>
          <a:p>
            <a:pPr lvl="1"/>
            <a:r>
              <a:rPr lang="en-US" dirty="0">
                <a:hlinkClick r:id="rId3"/>
              </a:rPr>
              <a:t>https://www.youtube.com/watch?v=4DQsG3TKQ0I</a:t>
            </a:r>
            <a:endParaRPr lang="en-US" dirty="0"/>
          </a:p>
          <a:p>
            <a:r>
              <a:rPr lang="en-US" dirty="0"/>
              <a:t>I Robot</a:t>
            </a:r>
          </a:p>
          <a:p>
            <a:pPr lvl="1"/>
            <a:r>
              <a:rPr lang="en-US" dirty="0">
                <a:hlinkClick r:id="rId4"/>
              </a:rPr>
              <a:t>https://www.youtube.com/watch?v=05bGPiyM4jg</a:t>
            </a:r>
            <a:endParaRPr lang="en-US" dirty="0"/>
          </a:p>
          <a:p>
            <a:r>
              <a:rPr lang="en-US" dirty="0"/>
              <a:t>Tesla robots</a:t>
            </a:r>
          </a:p>
          <a:p>
            <a:pPr lvl="1"/>
            <a:r>
              <a:rPr lang="en-US" dirty="0">
                <a:hlinkClick r:id="rId5"/>
              </a:rPr>
              <a:t>https://www.youtube.com/watch?v=cpraXaw7dyc</a:t>
            </a:r>
            <a:endParaRPr lang="en-US" dirty="0"/>
          </a:p>
          <a:p>
            <a:pPr lvl="1"/>
            <a:r>
              <a:rPr lang="en-US" dirty="0">
                <a:hlinkClick r:id="rId6"/>
              </a:rPr>
              <a:t>https://www.youtube.com/watch?v=ZTrebszENNw</a:t>
            </a:r>
            <a:endParaRPr lang="en-US" dirty="0"/>
          </a:p>
          <a:p>
            <a:pPr lvl="1"/>
            <a:r>
              <a:rPr lang="en-US" dirty="0">
                <a:hlinkClick r:id="rId7"/>
              </a:rPr>
              <a:t>https://www.youtube.com/watch?v=T6KtiOmRkn8</a:t>
            </a:r>
            <a:r>
              <a:rPr lang="en-US" dirty="0"/>
              <a:t> (1:02)</a:t>
            </a:r>
          </a:p>
          <a:p>
            <a:pPr lvl="1"/>
            <a:endParaRPr lang="en-US" dirty="0"/>
          </a:p>
        </p:txBody>
      </p:sp>
      <p:sp>
        <p:nvSpPr>
          <p:cNvPr id="5" name="Footer Placeholder 4">
            <a:extLst>
              <a:ext uri="{FF2B5EF4-FFF2-40B4-BE49-F238E27FC236}">
                <a16:creationId xmlns:a16="http://schemas.microsoft.com/office/drawing/2014/main" id="{79617EEB-144F-245D-C48B-AC41B4894BC1}"/>
              </a:ext>
            </a:extLst>
          </p:cNvPr>
          <p:cNvSpPr>
            <a:spLocks noGrp="1"/>
          </p:cNvSpPr>
          <p:nvPr>
            <p:ph type="ftr" sz="quarter" idx="11"/>
          </p:nvPr>
        </p:nvSpPr>
        <p:spPr/>
        <p:txBody>
          <a:bodyPr/>
          <a:lstStyle/>
          <a:p>
            <a:r>
              <a:rPr lang="en-US"/>
              <a:t>A CATHOLIC INTRODUCTION TO ARTIFICIAL INTELLIGENCE</a:t>
            </a:r>
          </a:p>
        </p:txBody>
      </p:sp>
      <p:sp>
        <p:nvSpPr>
          <p:cNvPr id="6" name="Slide Number Placeholder 5">
            <a:extLst>
              <a:ext uri="{FF2B5EF4-FFF2-40B4-BE49-F238E27FC236}">
                <a16:creationId xmlns:a16="http://schemas.microsoft.com/office/drawing/2014/main" id="{6E4D4234-CFD1-9D4A-9651-8F9004A7FEEB}"/>
              </a:ext>
            </a:extLst>
          </p:cNvPr>
          <p:cNvSpPr>
            <a:spLocks noGrp="1"/>
          </p:cNvSpPr>
          <p:nvPr>
            <p:ph type="sldNum" sz="quarter" idx="12"/>
          </p:nvPr>
        </p:nvSpPr>
        <p:spPr/>
        <p:txBody>
          <a:bodyPr/>
          <a:lstStyle/>
          <a:p>
            <a:fld id="{E31375A4-56A4-47D6-9801-1991572033F7}" type="slidenum">
              <a:rPr lang="en-US" smtClean="0"/>
              <a:t>13</a:t>
            </a:fld>
            <a:endParaRPr lang="en-US"/>
          </a:p>
        </p:txBody>
      </p:sp>
      <p:pic>
        <p:nvPicPr>
          <p:cNvPr id="7" name="Picture 6">
            <a:extLst>
              <a:ext uri="{FF2B5EF4-FFF2-40B4-BE49-F238E27FC236}">
                <a16:creationId xmlns:a16="http://schemas.microsoft.com/office/drawing/2014/main" id="{1FBB615C-3EE6-395C-63D2-32CBBA6701D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8" name="Picture 7">
            <a:extLst>
              <a:ext uri="{FF2B5EF4-FFF2-40B4-BE49-F238E27FC236}">
                <a16:creationId xmlns:a16="http://schemas.microsoft.com/office/drawing/2014/main" id="{D40D7FF9-2F19-DD44-96D4-D86B01AF507A}"/>
              </a:ext>
            </a:extLst>
          </p:cNvPr>
          <p:cNvPicPr>
            <a:picLocks noChangeAspect="1"/>
          </p:cNvPicPr>
          <p:nvPr/>
        </p:nvPicPr>
        <p:blipFill>
          <a:blip r:embed="rId9"/>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2920442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9A5BB-D040-62DE-101D-94B9F4CD6657}"/>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9C26C0C5-95E7-3040-34D0-317092111947}"/>
              </a:ext>
            </a:extLst>
          </p:cNvPr>
          <p:cNvSpPr>
            <a:spLocks noGrp="1"/>
          </p:cNvSpPr>
          <p:nvPr>
            <p:ph idx="1"/>
          </p:nvPr>
        </p:nvSpPr>
        <p:spPr/>
        <p:txBody>
          <a:bodyPr/>
          <a:lstStyle/>
          <a:p>
            <a:r>
              <a:rPr lang="en-US" dirty="0">
                <a:hlinkClick r:id="rId2"/>
              </a:rPr>
              <a:t>https://www.youtube.com/watch?v=8u4SeFnY9Jc&amp;t=283s</a:t>
            </a:r>
            <a:endParaRPr lang="en-US" dirty="0"/>
          </a:p>
          <a:p>
            <a:r>
              <a:rPr lang="en-US" dirty="0">
                <a:hlinkClick r:id="rId3"/>
              </a:rPr>
              <a:t>https://www.youtube.com/watch?v=Wjrdr0NU4Sk</a:t>
            </a:r>
            <a:endParaRPr lang="en-US" dirty="0"/>
          </a:p>
          <a:p>
            <a:endParaRPr lang="en-US" dirty="0"/>
          </a:p>
        </p:txBody>
      </p:sp>
      <p:sp>
        <p:nvSpPr>
          <p:cNvPr id="5" name="Footer Placeholder 4">
            <a:extLst>
              <a:ext uri="{FF2B5EF4-FFF2-40B4-BE49-F238E27FC236}">
                <a16:creationId xmlns:a16="http://schemas.microsoft.com/office/drawing/2014/main" id="{3B8B051A-71DB-4645-B044-461A0983E980}"/>
              </a:ext>
            </a:extLst>
          </p:cNvPr>
          <p:cNvSpPr>
            <a:spLocks noGrp="1"/>
          </p:cNvSpPr>
          <p:nvPr>
            <p:ph type="ftr" sz="quarter" idx="11"/>
          </p:nvPr>
        </p:nvSpPr>
        <p:spPr/>
        <p:txBody>
          <a:bodyPr/>
          <a:lstStyle/>
          <a:p>
            <a:r>
              <a:rPr lang="en-US"/>
              <a:t>A CATHOLIC INTRODUCTION TO ARTIFICIAL INTELLIGENCE</a:t>
            </a:r>
          </a:p>
        </p:txBody>
      </p:sp>
      <p:sp>
        <p:nvSpPr>
          <p:cNvPr id="6" name="Slide Number Placeholder 5">
            <a:extLst>
              <a:ext uri="{FF2B5EF4-FFF2-40B4-BE49-F238E27FC236}">
                <a16:creationId xmlns:a16="http://schemas.microsoft.com/office/drawing/2014/main" id="{ED7E9C1B-5761-99CC-4361-7EE66F1DDB3C}"/>
              </a:ext>
            </a:extLst>
          </p:cNvPr>
          <p:cNvSpPr>
            <a:spLocks noGrp="1"/>
          </p:cNvSpPr>
          <p:nvPr>
            <p:ph type="sldNum" sz="quarter" idx="12"/>
          </p:nvPr>
        </p:nvSpPr>
        <p:spPr/>
        <p:txBody>
          <a:bodyPr/>
          <a:lstStyle/>
          <a:p>
            <a:fld id="{E31375A4-56A4-47D6-9801-1991572033F7}" type="slidenum">
              <a:rPr lang="en-US" smtClean="0"/>
              <a:t>14</a:t>
            </a:fld>
            <a:endParaRPr lang="en-US"/>
          </a:p>
        </p:txBody>
      </p:sp>
      <p:pic>
        <p:nvPicPr>
          <p:cNvPr id="7" name="Picture 6">
            <a:extLst>
              <a:ext uri="{FF2B5EF4-FFF2-40B4-BE49-F238E27FC236}">
                <a16:creationId xmlns:a16="http://schemas.microsoft.com/office/drawing/2014/main" id="{EE82FC2D-4B28-590E-242B-D72A6B66AC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00917" y="13716"/>
            <a:ext cx="1579626" cy="1053084"/>
          </a:xfrm>
          <a:prstGeom prst="rect">
            <a:avLst/>
          </a:prstGeom>
        </p:spPr>
      </p:pic>
      <p:pic>
        <p:nvPicPr>
          <p:cNvPr id="8" name="Picture 7">
            <a:extLst>
              <a:ext uri="{FF2B5EF4-FFF2-40B4-BE49-F238E27FC236}">
                <a16:creationId xmlns:a16="http://schemas.microsoft.com/office/drawing/2014/main" id="{913A4A87-C3E5-E3B4-9D88-886D13F7D534}"/>
              </a:ext>
            </a:extLst>
          </p:cNvPr>
          <p:cNvPicPr>
            <a:picLocks noChangeAspect="1"/>
          </p:cNvPicPr>
          <p:nvPr/>
        </p:nvPicPr>
        <p:blipFill>
          <a:blip r:embed="rId5"/>
          <a:stretch>
            <a:fillRect/>
          </a:stretch>
        </p:blipFill>
        <p:spPr>
          <a:xfrm>
            <a:off x="11158347" y="5259124"/>
            <a:ext cx="1022196" cy="1485900"/>
          </a:xfrm>
          <a:prstGeom prst="rect">
            <a:avLst/>
          </a:prstGeom>
        </p:spPr>
      </p:pic>
    </p:spTree>
    <p:extLst>
      <p:ext uri="{BB962C8B-B14F-4D97-AF65-F5344CB8AC3E}">
        <p14:creationId xmlns:p14="http://schemas.microsoft.com/office/powerpoint/2010/main" val="38795371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4825F1AF-8DBC-4E3D-9F3D-688338DA83FC}"/>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746CFF6F-D9AA-4BC0-911A-0A13567719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3427</TotalTime>
  <Words>816</Words>
  <Application>Microsoft Office PowerPoint</Application>
  <PresentationFormat>Widescreen</PresentationFormat>
  <Paragraphs>94</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-apple-system</vt:lpstr>
      <vt:lpstr>Candara</vt:lpstr>
      <vt:lpstr>Figtree</vt:lpstr>
      <vt:lpstr>Tw Cen MT</vt:lpstr>
      <vt:lpstr>Tw Cen MT Condensed</vt:lpstr>
      <vt:lpstr>Wingdings</vt:lpstr>
      <vt:lpstr>Wingdings 3</vt:lpstr>
      <vt:lpstr>Integral</vt:lpstr>
      <vt:lpstr>A Catholic introduction to artificial intelligence Class 1 lecture</vt:lpstr>
      <vt:lpstr>Opening Prayer</vt:lpstr>
      <vt:lpstr>What you will learn in this class</vt:lpstr>
      <vt:lpstr>What is AI?</vt:lpstr>
      <vt:lpstr>The Big Picture of AI</vt:lpstr>
      <vt:lpstr>most AI in the world is</vt:lpstr>
      <vt:lpstr>Types of ai by market share</vt:lpstr>
      <vt:lpstr>Self-Awareness</vt:lpstr>
      <vt:lpstr>Where Is AI Being Used Today?</vt:lpstr>
      <vt:lpstr>It’s Been Around a Long Time</vt:lpstr>
      <vt:lpstr>PowerPoint Presentation</vt:lpstr>
      <vt:lpstr>Prayer to  St. Michael Archangel</vt:lpstr>
      <vt:lpstr>“AI” In Hollywood</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goddud</dc:creator>
  <cp:keywords/>
  <cp:lastModifiedBy>Dan Goddu</cp:lastModifiedBy>
  <cp:revision>39</cp:revision>
  <dcterms:created xsi:type="dcterms:W3CDTF">2016-07-18T21:49:12Z</dcterms:created>
  <dcterms:modified xsi:type="dcterms:W3CDTF">2026-03-09T18:58:08Z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TC029010269991</vt:lpwstr>
  </property>
</Properties>
</file>